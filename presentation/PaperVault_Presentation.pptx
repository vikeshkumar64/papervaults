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61164B-055B-4DBA-994C-B023DB9E5866}" v="1" dt="2026-07-12T10:36:10.6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848" autoAdjust="0"/>
  </p:normalViewPr>
  <p:slideViewPr>
    <p:cSldViewPr snapToGrid="0" snapToObjects="1">
      <p:cViewPr varScale="1">
        <p:scale>
          <a:sx n="72" d="100"/>
          <a:sy n="72" d="100"/>
        </p:scale>
        <p:origin x="107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kesh Kumar" userId="b361ec0b6cd3ca2f" providerId="LiveId" clId="{ACA21E28-5B5D-48F5-8BFF-964F61D6118A}"/>
    <pc:docChg chg="undo custSel modSld">
      <pc:chgData name="Vikesh Kumar" userId="b361ec0b6cd3ca2f" providerId="LiveId" clId="{ACA21E28-5B5D-48F5-8BFF-964F61D6118A}" dt="2026-07-12T11:20:35.967" v="5" actId="14100"/>
      <pc:docMkLst>
        <pc:docMk/>
      </pc:docMkLst>
      <pc:sldChg chg="modSp mod">
        <pc:chgData name="Vikesh Kumar" userId="b361ec0b6cd3ca2f" providerId="LiveId" clId="{ACA21E28-5B5D-48F5-8BFF-964F61D6118A}" dt="2026-07-12T11:10:13.163" v="4" actId="1076"/>
        <pc:sldMkLst>
          <pc:docMk/>
          <pc:sldMk cId="0" sldId="256"/>
        </pc:sldMkLst>
        <pc:spChg chg="mod">
          <ac:chgData name="Vikesh Kumar" userId="b361ec0b6cd3ca2f" providerId="LiveId" clId="{ACA21E28-5B5D-48F5-8BFF-964F61D6118A}" dt="2026-07-12T11:10:13.163" v="4" actId="1076"/>
          <ac:spMkLst>
            <pc:docMk/>
            <pc:sldMk cId="0" sldId="256"/>
            <ac:spMk id="12" creationId="{00000000-0000-0000-0000-000000000000}"/>
          </ac:spMkLst>
        </pc:spChg>
      </pc:sldChg>
      <pc:sldChg chg="addSp modSp mod">
        <pc:chgData name="Vikesh Kumar" userId="b361ec0b6cd3ca2f" providerId="LiveId" clId="{ACA21E28-5B5D-48F5-8BFF-964F61D6118A}" dt="2026-07-12T10:36:18.607" v="2" actId="1076"/>
        <pc:sldMkLst>
          <pc:docMk/>
          <pc:sldMk cId="0" sldId="261"/>
        </pc:sldMkLst>
        <pc:spChg chg="mod">
          <ac:chgData name="Vikesh Kumar" userId="b361ec0b6cd3ca2f" providerId="LiveId" clId="{ACA21E28-5B5D-48F5-8BFF-964F61D6118A}" dt="2026-07-12T10:36:10.651" v="0" actId="164"/>
          <ac:spMkLst>
            <pc:docMk/>
            <pc:sldMk cId="0" sldId="261"/>
            <ac:spMk id="13" creationId="{00000000-0000-0000-0000-000000000000}"/>
          </ac:spMkLst>
        </pc:spChg>
        <pc:spChg chg="mod">
          <ac:chgData name="Vikesh Kumar" userId="b361ec0b6cd3ca2f" providerId="LiveId" clId="{ACA21E28-5B5D-48F5-8BFF-964F61D6118A}" dt="2026-07-12T10:36:10.651" v="0" actId="164"/>
          <ac:spMkLst>
            <pc:docMk/>
            <pc:sldMk cId="0" sldId="261"/>
            <ac:spMk id="14" creationId="{00000000-0000-0000-0000-000000000000}"/>
          </ac:spMkLst>
        </pc:spChg>
        <pc:spChg chg="mod">
          <ac:chgData name="Vikesh Kumar" userId="b361ec0b6cd3ca2f" providerId="LiveId" clId="{ACA21E28-5B5D-48F5-8BFF-964F61D6118A}" dt="2026-07-12T10:36:10.651" v="0" actId="164"/>
          <ac:spMkLst>
            <pc:docMk/>
            <pc:sldMk cId="0" sldId="261"/>
            <ac:spMk id="22" creationId="{00000000-0000-0000-0000-000000000000}"/>
          </ac:spMkLst>
        </pc:spChg>
        <pc:spChg chg="mod">
          <ac:chgData name="Vikesh Kumar" userId="b361ec0b6cd3ca2f" providerId="LiveId" clId="{ACA21E28-5B5D-48F5-8BFF-964F61D6118A}" dt="2026-07-12T10:36:10.651" v="0" actId="164"/>
          <ac:spMkLst>
            <pc:docMk/>
            <pc:sldMk cId="0" sldId="261"/>
            <ac:spMk id="24" creationId="{00000000-0000-0000-0000-000000000000}"/>
          </ac:spMkLst>
        </pc:spChg>
        <pc:spChg chg="mod">
          <ac:chgData name="Vikesh Kumar" userId="b361ec0b6cd3ca2f" providerId="LiveId" clId="{ACA21E28-5B5D-48F5-8BFF-964F61D6118A}" dt="2026-07-12T10:36:10.651" v="0" actId="164"/>
          <ac:spMkLst>
            <pc:docMk/>
            <pc:sldMk cId="0" sldId="261"/>
            <ac:spMk id="27" creationId="{00000000-0000-0000-0000-000000000000}"/>
          </ac:spMkLst>
        </pc:spChg>
        <pc:spChg chg="mod">
          <ac:chgData name="Vikesh Kumar" userId="b361ec0b6cd3ca2f" providerId="LiveId" clId="{ACA21E28-5B5D-48F5-8BFF-964F61D6118A}" dt="2026-07-12T10:36:10.651" v="0" actId="164"/>
          <ac:spMkLst>
            <pc:docMk/>
            <pc:sldMk cId="0" sldId="261"/>
            <ac:spMk id="31" creationId="{00000000-0000-0000-0000-000000000000}"/>
          </ac:spMkLst>
        </pc:spChg>
        <pc:spChg chg="mod">
          <ac:chgData name="Vikesh Kumar" userId="b361ec0b6cd3ca2f" providerId="LiveId" clId="{ACA21E28-5B5D-48F5-8BFF-964F61D6118A}" dt="2026-07-12T10:36:10.651" v="0" actId="164"/>
          <ac:spMkLst>
            <pc:docMk/>
            <pc:sldMk cId="0" sldId="261"/>
            <ac:spMk id="35" creationId="{00000000-0000-0000-0000-000000000000}"/>
          </ac:spMkLst>
        </pc:spChg>
        <pc:spChg chg="mod">
          <ac:chgData name="Vikesh Kumar" userId="b361ec0b6cd3ca2f" providerId="LiveId" clId="{ACA21E28-5B5D-48F5-8BFF-964F61D6118A}" dt="2026-07-12T10:36:10.651" v="0" actId="164"/>
          <ac:spMkLst>
            <pc:docMk/>
            <pc:sldMk cId="0" sldId="261"/>
            <ac:spMk id="40" creationId="{00000000-0000-0000-0000-000000000000}"/>
          </ac:spMkLst>
        </pc:spChg>
        <pc:spChg chg="mod">
          <ac:chgData name="Vikesh Kumar" userId="b361ec0b6cd3ca2f" providerId="LiveId" clId="{ACA21E28-5B5D-48F5-8BFF-964F61D6118A}" dt="2026-07-12T10:36:10.651" v="0" actId="164"/>
          <ac:spMkLst>
            <pc:docMk/>
            <pc:sldMk cId="0" sldId="261"/>
            <ac:spMk id="41" creationId="{00000000-0000-0000-0000-000000000000}"/>
          </ac:spMkLst>
        </pc:spChg>
        <pc:spChg chg="mod">
          <ac:chgData name="Vikesh Kumar" userId="b361ec0b6cd3ca2f" providerId="LiveId" clId="{ACA21E28-5B5D-48F5-8BFF-964F61D6118A}" dt="2026-07-12T10:36:10.651" v="0" actId="164"/>
          <ac:spMkLst>
            <pc:docMk/>
            <pc:sldMk cId="0" sldId="261"/>
            <ac:spMk id="43" creationId="{00000000-0000-0000-0000-000000000000}"/>
          </ac:spMkLst>
        </pc:spChg>
        <pc:grpChg chg="mod">
          <ac:chgData name="Vikesh Kumar" userId="b361ec0b6cd3ca2f" providerId="LiveId" clId="{ACA21E28-5B5D-48F5-8BFF-964F61D6118A}" dt="2026-07-12T10:36:18.607" v="2" actId="1076"/>
          <ac:grpSpMkLst>
            <pc:docMk/>
            <pc:sldMk cId="0" sldId="261"/>
            <ac:grpSpMk id="60" creationId="{35E6680A-4ED0-9355-0578-BB11A174E188}"/>
          </ac:grpSpMkLst>
        </pc:grpChg>
      </pc:sldChg>
      <pc:sldChg chg="modSp mod">
        <pc:chgData name="Vikesh Kumar" userId="b361ec0b6cd3ca2f" providerId="LiveId" clId="{ACA21E28-5B5D-48F5-8BFF-964F61D6118A}" dt="2026-07-12T11:20:35.967" v="5" actId="14100"/>
        <pc:sldMkLst>
          <pc:docMk/>
          <pc:sldMk cId="0" sldId="263"/>
        </pc:sldMkLst>
        <pc:spChg chg="mod">
          <ac:chgData name="Vikesh Kumar" userId="b361ec0b6cd3ca2f" providerId="LiveId" clId="{ACA21E28-5B5D-48F5-8BFF-964F61D6118A}" dt="2026-07-12T11:20:35.967" v="5" actId="14100"/>
          <ac:spMkLst>
            <pc:docMk/>
            <pc:sldMk cId="0" sldId="263"/>
            <ac:spMk id="2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0524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everyone. I am Vikesh Kumar, UID 25MCI10099, pursuing MCA in AI &amp; ML from Chandigarh University. Today I'll present my project – PaperVault, a Previous Year Question Paper Sharing Platform. This project addresses a common problem faced by students: finding previous year question papers. Let me walk you through the problem, our solution, and how we built 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start with the problem. Every semester, students scramble to find previous year question papers. These papers are scattered across multiple WhatsApp groups, personal Google Drives, and informal channels. There's no single centralized platform where students can upload, search, and download these papers. What we need is a simple academic repository that doesn't require complex registration – just a clean, organized platform for sharing and accessing question papers.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PaperVault</a:t>
            </a:r>
            <a:r>
              <a:rPr dirty="0"/>
              <a:t> is designed with five core objectives. First, it serves as a centralized repository – one place for all question papers. Second, the upload system is frictionless – students can upload PDFs without registration. Third, we provide smart search and filtering by subject, year, and exam type. Fourth, an admin approval system ensures quality control – every uploaded paper is reviewed. And fifth, all approved papers are freely accessible to every student. These objectives together create a streamlined academic document-sharing ecosystem.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Our technology stack follows a clean layered architecture. The Presentation Layer uses React.js with Tailwind CSS for a responsive, modern UI, and Axios for API calls. The API Layer is built with Express.js, deployed as Netlify Serverless Functions for scalability. Security is handled through JWT Authentication with protected routes and admin authorization. The Data Layer uses MongoDB Atlas for metadata and </a:t>
            </a:r>
            <a:r>
              <a:rPr dirty="0" err="1"/>
              <a:t>GridFS</a:t>
            </a:r>
            <a:r>
              <a:rPr dirty="0"/>
              <a:t> for storing large PDF files. Finally, the entire application is hosted on Netlify with a CI/CD pipeline for seamless deployment. This serverless architecture ensures cost-efficiency and automatic scaling.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diagram shows the complete system architecture with two main flows. On the left, we have the User Flow: Students interact with the React frontend, which communicates with Netlify Serverless Functions. These functions connect to MongoDB Atlas for metadata and </a:t>
            </a:r>
            <a:r>
              <a:rPr dirty="0" err="1"/>
              <a:t>GridFS</a:t>
            </a:r>
            <a:r>
              <a:rPr dirty="0"/>
              <a:t> for PDF storage. On the right, we have the Admin Flow: Administrators access a dedicated dashboard, authenticate via JWT, and use protected APIs to review, approve, or reject submitted papers. The two flows are connected through the API layer, ensuring separation of concerns and proper access control.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me walk you through the complete workflow. Step 1: A student uploads a PDF through the interface, providing metadata like subject name, year, and exam type. Step 2: The PDF file is stored in GridFS, MongoDB's file storage system designed for large files. Step 3: The paper's metadata is saved in a MongoDB collection. Step 4: The submission status is marked as 'Pending' for admin review. Step 5: The admin reviews the submission through the admin dashboard. Step 6: The admin can either approve or reject the submission. Step 7: Once approved, the paper becomes visible to all users in the search results. This workflow ensures quality control while keeping the upload process simple for students.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look at the key features and the challenges we overcame. On the features side: We built PDF upload with metadata, search and filter functionality, an admin dashboard for reviewing submissions, JWT authentication for security, GridFS for efficient PDF storage, and serverless deployment on Netlify. On the challenges side: We solved large PDF storage by using GridFS to bypass MongoDB's 16MB BSON limit. We implemented chunked file storage and retrieval for MongoDB file handling. JWT-based authentication with refresh tokens secures admin access. We adapted Express.js to work with Netlify's serverless function architecture. PDF streaming was optimized for efficient in-browser previews. And we properly configured CORS policies for secure cross-origin communication.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conclusion, </a:t>
            </a:r>
            <a:r>
              <a:rPr dirty="0" err="1"/>
              <a:t>PaperVault</a:t>
            </a:r>
            <a:r>
              <a:rPr dirty="0"/>
              <a:t> successfully addresses the problem of scattered question papers by providing a centralized, searchable, and secure platform for academic document sharing. We built it with a modern tech stack – React, Express.js, MongoDB with </a:t>
            </a:r>
            <a:r>
              <a:rPr dirty="0" err="1"/>
              <a:t>GridFS</a:t>
            </a:r>
            <a:r>
              <a:rPr dirty="0"/>
              <a:t>, and serverless deployment. Looking ahead, we plan to add student accounts for personalized experiences, AI-powered search for smart recommendations, OCR extraction to make PDFs searchable by content, an analytics dashboard for usage insights, and subject-based recommendations. Thank you for your attention. I'm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Oval 1"/>
          <p:cNvSpPr/>
          <p:nvPr/>
        </p:nvSpPr>
        <p:spPr>
          <a:xfrm>
            <a:off x="9601200" y="-1371600"/>
            <a:ext cx="3657600" cy="3657600"/>
          </a:xfrm>
          <a:prstGeom prst="ellipse">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0058400" y="-914400"/>
            <a:ext cx="2743200" cy="2743200"/>
          </a:xfrm>
          <a:prstGeom prst="ellipse">
            <a:avLst/>
          </a:prstGeom>
          <a:solidFill>
            <a:srgbClr val="1B45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371600" y="5029200"/>
            <a:ext cx="3200400" cy="3200400"/>
          </a:xfrm>
          <a:prstGeom prst="ellipse">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73152"/>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371600" y="1371600"/>
            <a:ext cx="73152" cy="4114800"/>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828800" y="1463040"/>
            <a:ext cx="1097280" cy="1097280"/>
          </a:xfrm>
          <a:prstGeom prst="round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4000">
                <a:latin typeface="Segoe UI Emoji"/>
              </a:defRPr>
            </a:pPr>
            <a:r>
              <a:t>📄</a:t>
            </a:r>
          </a:p>
        </p:txBody>
      </p:sp>
      <p:sp>
        <p:nvSpPr>
          <p:cNvPr id="8" name="TextBox 7"/>
          <p:cNvSpPr txBox="1"/>
          <p:nvPr/>
        </p:nvSpPr>
        <p:spPr>
          <a:xfrm>
            <a:off x="1828800" y="2743200"/>
            <a:ext cx="8229600" cy="822960"/>
          </a:xfrm>
          <a:prstGeom prst="rect">
            <a:avLst/>
          </a:prstGeom>
          <a:noFill/>
        </p:spPr>
        <p:txBody>
          <a:bodyPr wrap="square">
            <a:spAutoFit/>
          </a:bodyPr>
          <a:lstStyle/>
          <a:p>
            <a:pPr algn="l">
              <a:lnSpc>
                <a:spcPts val="6240"/>
              </a:lnSpc>
              <a:spcAft>
                <a:spcPts val="0"/>
              </a:spcAft>
              <a:defRPr sz="5200" b="1">
                <a:solidFill>
                  <a:srgbClr val="FFFFFF"/>
                </a:solidFill>
                <a:latin typeface="Calibri"/>
              </a:defRPr>
            </a:pPr>
            <a:r>
              <a:t>PaperVault</a:t>
            </a:r>
          </a:p>
        </p:txBody>
      </p:sp>
      <p:sp>
        <p:nvSpPr>
          <p:cNvPr id="9" name="TextBox 8"/>
          <p:cNvSpPr txBox="1"/>
          <p:nvPr/>
        </p:nvSpPr>
        <p:spPr>
          <a:xfrm>
            <a:off x="1828800" y="3520440"/>
            <a:ext cx="8229600" cy="502920"/>
          </a:xfrm>
          <a:prstGeom prst="rect">
            <a:avLst/>
          </a:prstGeom>
          <a:noFill/>
        </p:spPr>
        <p:txBody>
          <a:bodyPr wrap="square">
            <a:spAutoFit/>
          </a:bodyPr>
          <a:lstStyle/>
          <a:p>
            <a:pPr algn="l">
              <a:lnSpc>
                <a:spcPts val="2640"/>
              </a:lnSpc>
              <a:spcAft>
                <a:spcPts val="0"/>
              </a:spcAft>
              <a:defRPr sz="2200" b="0">
                <a:solidFill>
                  <a:srgbClr val="BBDEFB"/>
                </a:solidFill>
                <a:latin typeface="Calibri"/>
              </a:defRPr>
            </a:pPr>
            <a:r>
              <a:t>Previous Year Question Paper Sharing Platform</a:t>
            </a:r>
          </a:p>
        </p:txBody>
      </p:sp>
      <p:sp>
        <p:nvSpPr>
          <p:cNvPr id="10" name="Rectangle 9"/>
          <p:cNvSpPr/>
          <p:nvPr/>
        </p:nvSpPr>
        <p:spPr>
          <a:xfrm>
            <a:off x="1828800" y="4160520"/>
            <a:ext cx="2743200" cy="36576"/>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4389120"/>
            <a:ext cx="5486400" cy="1371600"/>
          </a:xfrm>
          <a:prstGeom prst="rect">
            <a:avLst/>
          </a:prstGeom>
          <a:noFill/>
        </p:spPr>
        <p:txBody>
          <a:bodyPr wrap="square">
            <a:spAutoFit/>
          </a:bodyPr>
          <a:lstStyle/>
          <a:p>
            <a:pPr algn="l">
              <a:lnSpc>
                <a:spcPts val="2880"/>
              </a:lnSpc>
              <a:spcAft>
                <a:spcPts val="400"/>
              </a:spcAft>
              <a:defRPr sz="1600" b="0">
                <a:solidFill>
                  <a:srgbClr val="B0BEC5"/>
                </a:solidFill>
                <a:latin typeface="Calibri"/>
              </a:defRPr>
            </a:pPr>
            <a:r>
              <a:t>Presented By:  Vikesh Kumar</a:t>
            </a:r>
          </a:p>
          <a:p>
            <a:pPr algn="l">
              <a:lnSpc>
                <a:spcPts val="2880"/>
              </a:lnSpc>
              <a:spcAft>
                <a:spcPts val="400"/>
              </a:spcAft>
              <a:defRPr sz="1600" b="0">
                <a:solidFill>
                  <a:srgbClr val="B0BEC5"/>
                </a:solidFill>
                <a:latin typeface="Calibri"/>
              </a:defRPr>
            </a:pPr>
            <a:r>
              <a:t>UID:  25MCI10099</a:t>
            </a:r>
          </a:p>
          <a:p>
            <a:pPr algn="l">
              <a:lnSpc>
                <a:spcPts val="2880"/>
              </a:lnSpc>
              <a:spcAft>
                <a:spcPts val="400"/>
              </a:spcAft>
              <a:defRPr sz="1600" b="0">
                <a:solidFill>
                  <a:srgbClr val="B0BEC5"/>
                </a:solidFill>
                <a:latin typeface="Calibri"/>
              </a:defRPr>
            </a:pPr>
            <a:r>
              <a:t>MCA (AI &amp; ML)  |  Chandigarh University</a:t>
            </a:r>
          </a:p>
        </p:txBody>
      </p:sp>
      <p:sp>
        <p:nvSpPr>
          <p:cNvPr id="12" name="Rectangle 11"/>
          <p:cNvSpPr/>
          <p:nvPr/>
        </p:nvSpPr>
        <p:spPr>
          <a:xfrm>
            <a:off x="0" y="6656832"/>
            <a:ext cx="12191695" cy="201168"/>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0" y="5943600"/>
            <a:ext cx="3200400" cy="365760"/>
          </a:xfrm>
          <a:prstGeom prst="rect">
            <a:avLst/>
          </a:prstGeom>
          <a:noFill/>
        </p:spPr>
        <p:txBody>
          <a:bodyPr wrap="square">
            <a:spAutoFit/>
          </a:bodyPr>
          <a:lstStyle/>
          <a:p>
            <a:pPr algn="r">
              <a:lnSpc>
                <a:spcPts val="1560"/>
              </a:lnSpc>
              <a:spcAft>
                <a:spcPts val="0"/>
              </a:spcAft>
              <a:defRPr sz="1300" b="0">
                <a:solidFill>
                  <a:srgbClr val="5A5A7A"/>
                </a:solidFill>
                <a:latin typeface="Calibri"/>
              </a:defRPr>
            </a:pPr>
            <a:r>
              <a:t>Academic Year 2025–2026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54864"/>
            <a:ext cx="12191695" cy="10058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9144000" cy="502920"/>
          </a:xfrm>
          <a:prstGeom prst="rect">
            <a:avLst/>
          </a:prstGeom>
          <a:noFill/>
        </p:spPr>
        <p:txBody>
          <a:bodyPr wrap="square">
            <a:spAutoFit/>
          </a:bodyPr>
          <a:lstStyle/>
          <a:p>
            <a:pPr algn="l">
              <a:lnSpc>
                <a:spcPts val="3360"/>
              </a:lnSpc>
              <a:spcAft>
                <a:spcPts val="0"/>
              </a:spcAft>
              <a:defRPr sz="2800" b="1">
                <a:solidFill>
                  <a:srgbClr val="FFFFFF"/>
                </a:solidFill>
                <a:latin typeface="Calibri"/>
              </a:defRPr>
            </a:pPr>
            <a:r>
              <a:t>Problem Statement</a:t>
            </a:r>
          </a:p>
        </p:txBody>
      </p:sp>
      <p:sp>
        <p:nvSpPr>
          <p:cNvPr id="6" name="TextBox 5"/>
          <p:cNvSpPr txBox="1"/>
          <p:nvPr/>
        </p:nvSpPr>
        <p:spPr>
          <a:xfrm>
            <a:off x="548640" y="640080"/>
            <a:ext cx="9144000" cy="365760"/>
          </a:xfrm>
          <a:prstGeom prst="rect">
            <a:avLst/>
          </a:prstGeom>
          <a:noFill/>
        </p:spPr>
        <p:txBody>
          <a:bodyPr wrap="square">
            <a:spAutoFit/>
          </a:bodyPr>
          <a:lstStyle/>
          <a:p>
            <a:pPr algn="l">
              <a:lnSpc>
                <a:spcPts val="1680"/>
              </a:lnSpc>
              <a:spcAft>
                <a:spcPts val="0"/>
              </a:spcAft>
              <a:defRPr sz="1400" b="0">
                <a:solidFill>
                  <a:srgbClr val="BBDEFB"/>
                </a:solidFill>
                <a:latin typeface="Calibri"/>
              </a:defRPr>
            </a:pPr>
            <a:r>
              <a:t>Why do students need PaperVault?</a:t>
            </a:r>
          </a:p>
        </p:txBody>
      </p:sp>
      <p:sp>
        <p:nvSpPr>
          <p:cNvPr id="7" name="TextBox 6"/>
          <p:cNvSpPr txBox="1"/>
          <p:nvPr/>
        </p:nvSpPr>
        <p:spPr>
          <a:xfrm>
            <a:off x="10241280" y="320040"/>
            <a:ext cx="1828800" cy="411480"/>
          </a:xfrm>
          <a:prstGeom prst="rect">
            <a:avLst/>
          </a:prstGeom>
          <a:noFill/>
        </p:spPr>
        <p:txBody>
          <a:bodyPr wrap="square">
            <a:spAutoFit/>
          </a:bodyPr>
          <a:lstStyle/>
          <a:p>
            <a:pPr algn="r">
              <a:lnSpc>
                <a:spcPts val="1920"/>
              </a:lnSpc>
              <a:spcAft>
                <a:spcPts val="0"/>
              </a:spcAft>
              <a:defRPr sz="1600" b="1">
                <a:solidFill>
                  <a:srgbClr val="2196F3"/>
                </a:solidFill>
                <a:latin typeface="Calibri"/>
              </a:defRPr>
            </a:pPr>
            <a:r>
              <a:t>PaperVault</a:t>
            </a:r>
          </a:p>
        </p:txBody>
      </p:sp>
      <p:sp>
        <p:nvSpPr>
          <p:cNvPr id="8" name="Rectangle 7"/>
          <p:cNvSpPr/>
          <p:nvPr/>
        </p:nvSpPr>
        <p:spPr>
          <a:xfrm>
            <a:off x="0" y="6656832"/>
            <a:ext cx="12191695" cy="201168"/>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55680" y="6446520"/>
            <a:ext cx="914400" cy="320040"/>
          </a:xfrm>
          <a:prstGeom prst="rect">
            <a:avLst/>
          </a:prstGeom>
          <a:noFill/>
        </p:spPr>
        <p:txBody>
          <a:bodyPr wrap="square">
            <a:spAutoFit/>
          </a:bodyPr>
          <a:lstStyle/>
          <a:p>
            <a:pPr algn="r">
              <a:lnSpc>
                <a:spcPts val="1200"/>
              </a:lnSpc>
              <a:spcAft>
                <a:spcPts val="0"/>
              </a:spcAft>
              <a:defRPr sz="1000" b="0">
                <a:solidFill>
                  <a:srgbClr val="5A5A7A"/>
                </a:solidFill>
                <a:latin typeface="Calibri"/>
              </a:defRPr>
            </a:pPr>
            <a:r>
              <a:t>2 / 8</a:t>
            </a:r>
          </a:p>
        </p:txBody>
      </p:sp>
      <p:sp>
        <p:nvSpPr>
          <p:cNvPr id="10" name="Rounded Rectangle 9"/>
          <p:cNvSpPr/>
          <p:nvPr/>
        </p:nvSpPr>
        <p:spPr>
          <a:xfrm>
            <a:off x="457200" y="1463040"/>
            <a:ext cx="5486400" cy="2194560"/>
          </a:xfrm>
          <a:prstGeom prst="roundRect">
            <a:avLst/>
          </a:prstGeom>
          <a:solidFill>
            <a:srgbClr val="FFFFFF"/>
          </a:solidFill>
          <a:ln w="1905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30352" y="1737360"/>
            <a:ext cx="54864" cy="1645920"/>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22960" y="1783080"/>
            <a:ext cx="640080" cy="640080"/>
          </a:xfrm>
          <a:prstGeom prst="ellipse">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2200" b="1">
                <a:solidFill>
                  <a:srgbClr val="FFFFFF"/>
                </a:solidFill>
                <a:latin typeface="Segoe UI Emoji"/>
              </a:defRPr>
            </a:pPr>
            <a:r>
              <a:t>🔍</a:t>
            </a:r>
          </a:p>
        </p:txBody>
      </p:sp>
      <p:sp>
        <p:nvSpPr>
          <p:cNvPr id="13" name="Rounded Rectangle 12"/>
          <p:cNvSpPr/>
          <p:nvPr/>
        </p:nvSpPr>
        <p:spPr>
          <a:xfrm>
            <a:off x="4846320" y="1691640"/>
            <a:ext cx="822960" cy="365760"/>
          </a:xfrm>
          <a:prstGeom prst="round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defRPr sz="1200" b="1">
                <a:solidFill>
                  <a:srgbClr val="FFFFFF"/>
                </a:solidFill>
                <a:latin typeface="Calibri"/>
              </a:defRPr>
            </a:pPr>
            <a:r>
              <a:t>01</a:t>
            </a:r>
          </a:p>
        </p:txBody>
      </p:sp>
      <p:sp>
        <p:nvSpPr>
          <p:cNvPr id="14" name="TextBox 13"/>
          <p:cNvSpPr txBox="1"/>
          <p:nvPr/>
        </p:nvSpPr>
        <p:spPr>
          <a:xfrm>
            <a:off x="1645920" y="1783080"/>
            <a:ext cx="3017520" cy="411480"/>
          </a:xfrm>
          <a:prstGeom prst="rect">
            <a:avLst/>
          </a:prstGeom>
          <a:noFill/>
        </p:spPr>
        <p:txBody>
          <a:bodyPr wrap="square">
            <a:spAutoFit/>
          </a:bodyPr>
          <a:lstStyle/>
          <a:p>
            <a:pPr algn="l">
              <a:lnSpc>
                <a:spcPts val="2160"/>
              </a:lnSpc>
              <a:spcAft>
                <a:spcPts val="0"/>
              </a:spcAft>
              <a:defRPr sz="1800" b="1">
                <a:solidFill>
                  <a:srgbClr val="1B4F72"/>
                </a:solidFill>
                <a:latin typeface="Calibri"/>
              </a:defRPr>
            </a:pPr>
            <a:r>
              <a:t>Difficult Discovery</a:t>
            </a:r>
          </a:p>
        </p:txBody>
      </p:sp>
      <p:sp>
        <p:nvSpPr>
          <p:cNvPr id="15" name="TextBox 14"/>
          <p:cNvSpPr txBox="1"/>
          <p:nvPr/>
        </p:nvSpPr>
        <p:spPr>
          <a:xfrm>
            <a:off x="1645920" y="2286000"/>
            <a:ext cx="4023360" cy="1188720"/>
          </a:xfrm>
          <a:prstGeom prst="rect">
            <a:avLst/>
          </a:prstGeom>
          <a:noFill/>
        </p:spPr>
        <p:txBody>
          <a:bodyPr wrap="square">
            <a:spAutoFit/>
          </a:bodyPr>
          <a:lstStyle/>
          <a:p>
            <a:pPr algn="l">
              <a:lnSpc>
                <a:spcPts val="1950"/>
              </a:lnSpc>
              <a:spcAft>
                <a:spcPts val="0"/>
              </a:spcAft>
              <a:defRPr sz="1300" b="0">
                <a:solidFill>
                  <a:srgbClr val="5A5A7A"/>
                </a:solidFill>
                <a:latin typeface="Calibri"/>
              </a:defRPr>
            </a:pPr>
            <a:r>
              <a:t>Students struggle to find previous year question papers before exams, wasting valuable study time.</a:t>
            </a:r>
          </a:p>
        </p:txBody>
      </p:sp>
      <p:sp>
        <p:nvSpPr>
          <p:cNvPr id="16" name="Rounded Rectangle 15"/>
          <p:cNvSpPr/>
          <p:nvPr/>
        </p:nvSpPr>
        <p:spPr>
          <a:xfrm>
            <a:off x="6126480" y="1463040"/>
            <a:ext cx="5486400" cy="2194560"/>
          </a:xfrm>
          <a:prstGeom prst="roundRect">
            <a:avLst/>
          </a:prstGeom>
          <a:solidFill>
            <a:srgbClr val="FFFFFF"/>
          </a:solidFill>
          <a:ln w="1905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99632" y="1737360"/>
            <a:ext cx="54864" cy="1645920"/>
          </a:xfrm>
          <a:prstGeom prst="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492240" y="1783080"/>
            <a:ext cx="640080" cy="640080"/>
          </a:xfrm>
          <a:prstGeom prst="ellipse">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2200" b="1">
                <a:solidFill>
                  <a:srgbClr val="FFFFFF"/>
                </a:solidFill>
                <a:latin typeface="Segoe UI Emoji"/>
              </a:defRPr>
            </a:pPr>
            <a:r>
              <a:t>📱</a:t>
            </a:r>
          </a:p>
        </p:txBody>
      </p:sp>
      <p:sp>
        <p:nvSpPr>
          <p:cNvPr id="19" name="Rounded Rectangle 18"/>
          <p:cNvSpPr/>
          <p:nvPr/>
        </p:nvSpPr>
        <p:spPr>
          <a:xfrm>
            <a:off x="10515600" y="1691640"/>
            <a:ext cx="822960" cy="365760"/>
          </a:xfrm>
          <a:prstGeom prst="round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defRPr sz="1200" b="1">
                <a:solidFill>
                  <a:srgbClr val="FFFFFF"/>
                </a:solidFill>
                <a:latin typeface="Calibri"/>
              </a:defRPr>
            </a:pPr>
            <a:r>
              <a:t>02</a:t>
            </a:r>
          </a:p>
        </p:txBody>
      </p:sp>
      <p:sp>
        <p:nvSpPr>
          <p:cNvPr id="20" name="TextBox 19"/>
          <p:cNvSpPr txBox="1"/>
          <p:nvPr/>
        </p:nvSpPr>
        <p:spPr>
          <a:xfrm>
            <a:off x="7315200" y="1783080"/>
            <a:ext cx="3017520" cy="411480"/>
          </a:xfrm>
          <a:prstGeom prst="rect">
            <a:avLst/>
          </a:prstGeom>
          <a:noFill/>
        </p:spPr>
        <p:txBody>
          <a:bodyPr wrap="square">
            <a:spAutoFit/>
          </a:bodyPr>
          <a:lstStyle/>
          <a:p>
            <a:pPr algn="l">
              <a:lnSpc>
                <a:spcPts val="2160"/>
              </a:lnSpc>
              <a:spcAft>
                <a:spcPts val="0"/>
              </a:spcAft>
              <a:defRPr sz="1800" b="1">
                <a:solidFill>
                  <a:srgbClr val="1B4F72"/>
                </a:solidFill>
                <a:latin typeface="Calibri"/>
              </a:defRPr>
            </a:pPr>
            <a:r>
              <a:t>Scattered Resources</a:t>
            </a:r>
          </a:p>
        </p:txBody>
      </p:sp>
      <p:sp>
        <p:nvSpPr>
          <p:cNvPr id="21" name="TextBox 20"/>
          <p:cNvSpPr txBox="1"/>
          <p:nvPr/>
        </p:nvSpPr>
        <p:spPr>
          <a:xfrm>
            <a:off x="7315200" y="2286000"/>
            <a:ext cx="4023360" cy="1188720"/>
          </a:xfrm>
          <a:prstGeom prst="rect">
            <a:avLst/>
          </a:prstGeom>
          <a:noFill/>
        </p:spPr>
        <p:txBody>
          <a:bodyPr wrap="square">
            <a:spAutoFit/>
          </a:bodyPr>
          <a:lstStyle/>
          <a:p>
            <a:pPr algn="l">
              <a:lnSpc>
                <a:spcPts val="1950"/>
              </a:lnSpc>
              <a:spcAft>
                <a:spcPts val="0"/>
              </a:spcAft>
              <a:defRPr sz="1300" b="0">
                <a:solidFill>
                  <a:srgbClr val="5A5A7A"/>
                </a:solidFill>
                <a:latin typeface="Calibri"/>
              </a:defRPr>
            </a:pPr>
            <a:r>
              <a:t>Papers are scattered across WhatsApp groups, Google Drives, and personal collections with no organization.</a:t>
            </a:r>
          </a:p>
        </p:txBody>
      </p:sp>
      <p:sp>
        <p:nvSpPr>
          <p:cNvPr id="22" name="Rounded Rectangle 21"/>
          <p:cNvSpPr/>
          <p:nvPr/>
        </p:nvSpPr>
        <p:spPr>
          <a:xfrm>
            <a:off x="457200" y="4023360"/>
            <a:ext cx="5486400" cy="2194560"/>
          </a:xfrm>
          <a:prstGeom prst="roundRect">
            <a:avLst/>
          </a:prstGeom>
          <a:solidFill>
            <a:srgbClr val="FFFFFF"/>
          </a:solidFill>
          <a:ln w="1905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30352" y="4297680"/>
            <a:ext cx="54864" cy="164592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822960" y="4343400"/>
            <a:ext cx="640080" cy="640080"/>
          </a:xfrm>
          <a:prstGeom prst="ellipse">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2200" b="1">
                <a:solidFill>
                  <a:srgbClr val="FFFFFF"/>
                </a:solidFill>
                <a:latin typeface="Segoe UI Emoji"/>
              </a:defRPr>
            </a:pPr>
            <a:r>
              <a:t>🗄️</a:t>
            </a:r>
          </a:p>
        </p:txBody>
      </p:sp>
      <p:sp>
        <p:nvSpPr>
          <p:cNvPr id="25" name="Rounded Rectangle 24"/>
          <p:cNvSpPr/>
          <p:nvPr/>
        </p:nvSpPr>
        <p:spPr>
          <a:xfrm>
            <a:off x="4846320" y="4251960"/>
            <a:ext cx="822960" cy="365760"/>
          </a:xfrm>
          <a:prstGeom prst="round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defRPr sz="1200" b="1">
                <a:solidFill>
                  <a:srgbClr val="FFFFFF"/>
                </a:solidFill>
                <a:latin typeface="Calibri"/>
              </a:defRPr>
            </a:pPr>
            <a:r>
              <a:t>03</a:t>
            </a:r>
          </a:p>
        </p:txBody>
      </p:sp>
      <p:sp>
        <p:nvSpPr>
          <p:cNvPr id="26" name="TextBox 25"/>
          <p:cNvSpPr txBox="1"/>
          <p:nvPr/>
        </p:nvSpPr>
        <p:spPr>
          <a:xfrm>
            <a:off x="1645920" y="4343400"/>
            <a:ext cx="3017520" cy="411480"/>
          </a:xfrm>
          <a:prstGeom prst="rect">
            <a:avLst/>
          </a:prstGeom>
          <a:noFill/>
        </p:spPr>
        <p:txBody>
          <a:bodyPr wrap="square">
            <a:spAutoFit/>
          </a:bodyPr>
          <a:lstStyle/>
          <a:p>
            <a:pPr algn="l">
              <a:lnSpc>
                <a:spcPts val="2160"/>
              </a:lnSpc>
              <a:spcAft>
                <a:spcPts val="0"/>
              </a:spcAft>
              <a:defRPr sz="1800" b="1">
                <a:solidFill>
                  <a:srgbClr val="1B4F72"/>
                </a:solidFill>
                <a:latin typeface="Calibri"/>
              </a:defRPr>
            </a:pPr>
            <a:r>
              <a:t>No Central Repository</a:t>
            </a:r>
          </a:p>
        </p:txBody>
      </p:sp>
      <p:sp>
        <p:nvSpPr>
          <p:cNvPr id="27" name="TextBox 26"/>
          <p:cNvSpPr txBox="1"/>
          <p:nvPr/>
        </p:nvSpPr>
        <p:spPr>
          <a:xfrm>
            <a:off x="1645920" y="4846320"/>
            <a:ext cx="4023360" cy="1188720"/>
          </a:xfrm>
          <a:prstGeom prst="rect">
            <a:avLst/>
          </a:prstGeom>
          <a:noFill/>
        </p:spPr>
        <p:txBody>
          <a:bodyPr wrap="square">
            <a:spAutoFit/>
          </a:bodyPr>
          <a:lstStyle/>
          <a:p>
            <a:pPr algn="l">
              <a:lnSpc>
                <a:spcPts val="1950"/>
              </a:lnSpc>
              <a:spcAft>
                <a:spcPts val="0"/>
              </a:spcAft>
              <a:defRPr sz="1300" b="0">
                <a:solidFill>
                  <a:srgbClr val="5A5A7A"/>
                </a:solidFill>
                <a:latin typeface="Calibri"/>
              </a:defRPr>
            </a:pPr>
            <a:r>
              <a:t>There is no centralized, searchable platform for storing and retrieving academic question papers.</a:t>
            </a:r>
          </a:p>
        </p:txBody>
      </p:sp>
      <p:sp>
        <p:nvSpPr>
          <p:cNvPr id="28" name="Rounded Rectangle 27"/>
          <p:cNvSpPr/>
          <p:nvPr/>
        </p:nvSpPr>
        <p:spPr>
          <a:xfrm>
            <a:off x="6126480" y="4023360"/>
            <a:ext cx="5486400" cy="2194560"/>
          </a:xfrm>
          <a:prstGeom prst="roundRect">
            <a:avLst/>
          </a:prstGeom>
          <a:solidFill>
            <a:srgbClr val="FFFFFF"/>
          </a:solidFill>
          <a:ln w="1905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99632" y="4297680"/>
            <a:ext cx="54864" cy="164592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6492240" y="4343400"/>
            <a:ext cx="640080" cy="640080"/>
          </a:xfrm>
          <a:prstGeom prst="ellipse">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2200" b="1">
                <a:solidFill>
                  <a:srgbClr val="FFFFFF"/>
                </a:solidFill>
                <a:latin typeface="Segoe UI Emoji"/>
              </a:defRPr>
            </a:pPr>
            <a:r>
              <a:t>⚡</a:t>
            </a:r>
          </a:p>
        </p:txBody>
      </p:sp>
      <p:sp>
        <p:nvSpPr>
          <p:cNvPr id="31" name="Rounded Rectangle 30"/>
          <p:cNvSpPr/>
          <p:nvPr/>
        </p:nvSpPr>
        <p:spPr>
          <a:xfrm>
            <a:off x="10515600" y="4251960"/>
            <a:ext cx="822960" cy="365760"/>
          </a:xfrm>
          <a:prstGeom prst="round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defRPr sz="1200" b="1">
                <a:solidFill>
                  <a:srgbClr val="FFFFFF"/>
                </a:solidFill>
                <a:latin typeface="Calibri"/>
              </a:defRPr>
            </a:pPr>
            <a:r>
              <a:t>04</a:t>
            </a:r>
          </a:p>
        </p:txBody>
      </p:sp>
      <p:sp>
        <p:nvSpPr>
          <p:cNvPr id="32" name="TextBox 31"/>
          <p:cNvSpPr txBox="1"/>
          <p:nvPr/>
        </p:nvSpPr>
        <p:spPr>
          <a:xfrm>
            <a:off x="7315200" y="4343400"/>
            <a:ext cx="3017520" cy="411480"/>
          </a:xfrm>
          <a:prstGeom prst="rect">
            <a:avLst/>
          </a:prstGeom>
          <a:noFill/>
        </p:spPr>
        <p:txBody>
          <a:bodyPr wrap="square">
            <a:spAutoFit/>
          </a:bodyPr>
          <a:lstStyle/>
          <a:p>
            <a:pPr algn="l">
              <a:lnSpc>
                <a:spcPts val="2160"/>
              </a:lnSpc>
              <a:spcAft>
                <a:spcPts val="0"/>
              </a:spcAft>
              <a:defRPr sz="1800" b="1">
                <a:solidFill>
                  <a:srgbClr val="1B4F72"/>
                </a:solidFill>
                <a:latin typeface="Calibri"/>
              </a:defRPr>
            </a:pPr>
            <a:r>
              <a:t>Need for Simplicity</a:t>
            </a:r>
          </a:p>
        </p:txBody>
      </p:sp>
      <p:sp>
        <p:nvSpPr>
          <p:cNvPr id="33" name="TextBox 32"/>
          <p:cNvSpPr txBox="1"/>
          <p:nvPr/>
        </p:nvSpPr>
        <p:spPr>
          <a:xfrm>
            <a:off x="7315200" y="4846320"/>
            <a:ext cx="4023360" cy="1188720"/>
          </a:xfrm>
          <a:prstGeom prst="rect">
            <a:avLst/>
          </a:prstGeom>
          <a:noFill/>
        </p:spPr>
        <p:txBody>
          <a:bodyPr wrap="square">
            <a:spAutoFit/>
          </a:bodyPr>
          <a:lstStyle/>
          <a:p>
            <a:pPr algn="l">
              <a:lnSpc>
                <a:spcPts val="1950"/>
              </a:lnSpc>
              <a:spcAft>
                <a:spcPts val="0"/>
              </a:spcAft>
              <a:defRPr sz="1300" b="0">
                <a:solidFill>
                  <a:srgbClr val="5A5A7A"/>
                </a:solidFill>
                <a:latin typeface="Calibri"/>
              </a:defRPr>
            </a:pPr>
            <a:r>
              <a:t>Students need a simple, fast, and reliable academic repository that requires no registration to access.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54864"/>
            <a:ext cx="12191695" cy="10058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9144000" cy="502920"/>
          </a:xfrm>
          <a:prstGeom prst="rect">
            <a:avLst/>
          </a:prstGeom>
          <a:noFill/>
        </p:spPr>
        <p:txBody>
          <a:bodyPr wrap="square">
            <a:spAutoFit/>
          </a:bodyPr>
          <a:lstStyle/>
          <a:p>
            <a:pPr algn="l">
              <a:lnSpc>
                <a:spcPts val="3360"/>
              </a:lnSpc>
              <a:spcAft>
                <a:spcPts val="0"/>
              </a:spcAft>
              <a:defRPr sz="2800" b="1">
                <a:solidFill>
                  <a:srgbClr val="FFFFFF"/>
                </a:solidFill>
                <a:latin typeface="Calibri"/>
              </a:defRPr>
            </a:pPr>
            <a:r>
              <a:t>Project Overview &amp; Objectives</a:t>
            </a:r>
          </a:p>
        </p:txBody>
      </p:sp>
      <p:sp>
        <p:nvSpPr>
          <p:cNvPr id="6" name="TextBox 5"/>
          <p:cNvSpPr txBox="1"/>
          <p:nvPr/>
        </p:nvSpPr>
        <p:spPr>
          <a:xfrm>
            <a:off x="548640" y="640080"/>
            <a:ext cx="9144000" cy="365760"/>
          </a:xfrm>
          <a:prstGeom prst="rect">
            <a:avLst/>
          </a:prstGeom>
          <a:noFill/>
        </p:spPr>
        <p:txBody>
          <a:bodyPr wrap="square">
            <a:spAutoFit/>
          </a:bodyPr>
          <a:lstStyle/>
          <a:p>
            <a:pPr algn="l">
              <a:lnSpc>
                <a:spcPts val="1680"/>
              </a:lnSpc>
              <a:spcAft>
                <a:spcPts val="0"/>
              </a:spcAft>
              <a:defRPr sz="1400" b="0">
                <a:solidFill>
                  <a:srgbClr val="BBDEFB"/>
                </a:solidFill>
                <a:latin typeface="Calibri"/>
              </a:defRPr>
            </a:pPr>
            <a:r>
              <a:t>What PaperVault aims to achieve</a:t>
            </a:r>
          </a:p>
        </p:txBody>
      </p:sp>
      <p:sp>
        <p:nvSpPr>
          <p:cNvPr id="7" name="TextBox 6"/>
          <p:cNvSpPr txBox="1"/>
          <p:nvPr/>
        </p:nvSpPr>
        <p:spPr>
          <a:xfrm>
            <a:off x="10241280" y="320040"/>
            <a:ext cx="1828800" cy="411480"/>
          </a:xfrm>
          <a:prstGeom prst="rect">
            <a:avLst/>
          </a:prstGeom>
          <a:noFill/>
        </p:spPr>
        <p:txBody>
          <a:bodyPr wrap="square">
            <a:spAutoFit/>
          </a:bodyPr>
          <a:lstStyle/>
          <a:p>
            <a:pPr algn="r">
              <a:lnSpc>
                <a:spcPts val="1920"/>
              </a:lnSpc>
              <a:spcAft>
                <a:spcPts val="0"/>
              </a:spcAft>
              <a:defRPr sz="1600" b="1">
                <a:solidFill>
                  <a:srgbClr val="2196F3"/>
                </a:solidFill>
                <a:latin typeface="Calibri"/>
              </a:defRPr>
            </a:pPr>
            <a:r>
              <a:t>PaperVault</a:t>
            </a:r>
          </a:p>
        </p:txBody>
      </p:sp>
      <p:sp>
        <p:nvSpPr>
          <p:cNvPr id="8" name="Rectangle 7"/>
          <p:cNvSpPr/>
          <p:nvPr/>
        </p:nvSpPr>
        <p:spPr>
          <a:xfrm>
            <a:off x="0" y="6656832"/>
            <a:ext cx="12191695" cy="201168"/>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55680" y="6446520"/>
            <a:ext cx="914400" cy="320040"/>
          </a:xfrm>
          <a:prstGeom prst="rect">
            <a:avLst/>
          </a:prstGeom>
          <a:noFill/>
        </p:spPr>
        <p:txBody>
          <a:bodyPr wrap="square">
            <a:spAutoFit/>
          </a:bodyPr>
          <a:lstStyle/>
          <a:p>
            <a:pPr algn="r">
              <a:lnSpc>
                <a:spcPts val="1200"/>
              </a:lnSpc>
              <a:spcAft>
                <a:spcPts val="0"/>
              </a:spcAft>
              <a:defRPr sz="1000" b="0">
                <a:solidFill>
                  <a:srgbClr val="5A5A7A"/>
                </a:solidFill>
                <a:latin typeface="Calibri"/>
              </a:defRPr>
            </a:pPr>
            <a:r>
              <a:t>3 / 8</a:t>
            </a:r>
          </a:p>
        </p:txBody>
      </p:sp>
      <p:sp>
        <p:nvSpPr>
          <p:cNvPr id="10" name="TextBox 9"/>
          <p:cNvSpPr txBox="1"/>
          <p:nvPr/>
        </p:nvSpPr>
        <p:spPr>
          <a:xfrm>
            <a:off x="457200" y="1325880"/>
            <a:ext cx="11247120" cy="502920"/>
          </a:xfrm>
          <a:prstGeom prst="rect">
            <a:avLst/>
          </a:prstGeom>
          <a:noFill/>
        </p:spPr>
        <p:txBody>
          <a:bodyPr wrap="square">
            <a:spAutoFit/>
          </a:bodyPr>
          <a:lstStyle/>
          <a:p>
            <a:pPr algn="l">
              <a:lnSpc>
                <a:spcPts val="1800"/>
              </a:lnSpc>
              <a:spcAft>
                <a:spcPts val="0"/>
              </a:spcAft>
              <a:defRPr sz="1500" b="0">
                <a:solidFill>
                  <a:srgbClr val="1A1A2E"/>
                </a:solidFill>
                <a:latin typeface="Calibri"/>
              </a:defRPr>
            </a:pPr>
            <a:r>
              <a:t>PaperVault is a centralized question paper repository that simplifies academic document sharing and retrieval.</a:t>
            </a:r>
          </a:p>
        </p:txBody>
      </p:sp>
      <p:sp>
        <p:nvSpPr>
          <p:cNvPr id="11" name="Rounded Rectangle 10"/>
          <p:cNvSpPr/>
          <p:nvPr/>
        </p:nvSpPr>
        <p:spPr>
          <a:xfrm>
            <a:off x="457200" y="2011680"/>
            <a:ext cx="2057400" cy="4023360"/>
          </a:xfrm>
          <a:prstGeom prst="roundRect">
            <a:avLst/>
          </a:prstGeom>
          <a:solidFill>
            <a:srgbClr val="FFFFFF"/>
          </a:solidFill>
          <a:ln w="1905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2057400"/>
            <a:ext cx="1874520" cy="54864"/>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74420" y="2377440"/>
            <a:ext cx="822960" cy="822960"/>
          </a:xfrm>
          <a:prstGeom prst="ellipse">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2800" b="1">
                <a:solidFill>
                  <a:srgbClr val="FFFFFF"/>
                </a:solidFill>
                <a:latin typeface="Segoe UI Emoji"/>
              </a:defRPr>
            </a:pPr>
            <a:r>
              <a:t>📚</a:t>
            </a:r>
          </a:p>
        </p:txBody>
      </p:sp>
      <p:sp>
        <p:nvSpPr>
          <p:cNvPr id="14" name="TextBox 13"/>
          <p:cNvSpPr txBox="1"/>
          <p:nvPr/>
        </p:nvSpPr>
        <p:spPr>
          <a:xfrm>
            <a:off x="457200" y="3383280"/>
            <a:ext cx="2057400" cy="320040"/>
          </a:xfrm>
          <a:prstGeom prst="rect">
            <a:avLst/>
          </a:prstGeom>
          <a:noFill/>
        </p:spPr>
        <p:txBody>
          <a:bodyPr wrap="square">
            <a:spAutoFit/>
          </a:bodyPr>
          <a:lstStyle/>
          <a:p>
            <a:pPr algn="ctr">
              <a:lnSpc>
                <a:spcPts val="1439"/>
              </a:lnSpc>
              <a:spcAft>
                <a:spcPts val="0"/>
              </a:spcAft>
              <a:defRPr sz="1200" b="1">
                <a:solidFill>
                  <a:srgbClr val="2196F3"/>
                </a:solidFill>
                <a:latin typeface="Calibri"/>
              </a:defRPr>
            </a:pPr>
            <a:r>
              <a:t>01</a:t>
            </a:r>
          </a:p>
        </p:txBody>
      </p:sp>
      <p:sp>
        <p:nvSpPr>
          <p:cNvPr id="15" name="TextBox 14"/>
          <p:cNvSpPr txBox="1"/>
          <p:nvPr/>
        </p:nvSpPr>
        <p:spPr>
          <a:xfrm>
            <a:off x="594360" y="3703320"/>
            <a:ext cx="1783080" cy="640080"/>
          </a:xfrm>
          <a:prstGeom prst="rect">
            <a:avLst/>
          </a:prstGeom>
          <a:noFill/>
        </p:spPr>
        <p:txBody>
          <a:bodyPr wrap="square">
            <a:spAutoFit/>
          </a:bodyPr>
          <a:lstStyle/>
          <a:p>
            <a:pPr algn="ctr">
              <a:lnSpc>
                <a:spcPts val="1680"/>
              </a:lnSpc>
              <a:spcAft>
                <a:spcPts val="0"/>
              </a:spcAft>
              <a:defRPr sz="1400" b="1">
                <a:solidFill>
                  <a:srgbClr val="1B4F72"/>
                </a:solidFill>
                <a:latin typeface="Calibri"/>
              </a:defRPr>
            </a:pPr>
            <a:r>
              <a:t>Centralized</a:t>
            </a:r>
            <a:br/>
            <a:r>
              <a:t>Repository</a:t>
            </a:r>
          </a:p>
        </p:txBody>
      </p:sp>
      <p:sp>
        <p:nvSpPr>
          <p:cNvPr id="16" name="TextBox 15"/>
          <p:cNvSpPr txBox="1"/>
          <p:nvPr/>
        </p:nvSpPr>
        <p:spPr>
          <a:xfrm>
            <a:off x="594360" y="4434840"/>
            <a:ext cx="1783080" cy="1097280"/>
          </a:xfrm>
          <a:prstGeom prst="rect">
            <a:avLst/>
          </a:prstGeom>
          <a:noFill/>
        </p:spPr>
        <p:txBody>
          <a:bodyPr wrap="square">
            <a:spAutoFit/>
          </a:bodyPr>
          <a:lstStyle/>
          <a:p>
            <a:pPr algn="ctr">
              <a:lnSpc>
                <a:spcPts val="1800"/>
              </a:lnSpc>
              <a:spcAft>
                <a:spcPts val="0"/>
              </a:spcAft>
              <a:defRPr sz="1200" b="0">
                <a:solidFill>
                  <a:srgbClr val="5A5A7A"/>
                </a:solidFill>
                <a:latin typeface="Calibri"/>
              </a:defRPr>
            </a:pPr>
            <a:r>
              <a:t>Single platform for all</a:t>
            </a:r>
            <a:br/>
            <a:r>
              <a:t>question papers</a:t>
            </a:r>
          </a:p>
        </p:txBody>
      </p:sp>
      <p:sp>
        <p:nvSpPr>
          <p:cNvPr id="17" name="Rectangle 16"/>
          <p:cNvSpPr/>
          <p:nvPr/>
        </p:nvSpPr>
        <p:spPr>
          <a:xfrm>
            <a:off x="1005840" y="5760720"/>
            <a:ext cx="960120" cy="36576"/>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770632" y="2011680"/>
            <a:ext cx="2057400" cy="4023360"/>
          </a:xfrm>
          <a:prstGeom prst="roundRect">
            <a:avLst/>
          </a:prstGeom>
          <a:solidFill>
            <a:srgbClr val="FFFFFF"/>
          </a:solidFill>
          <a:ln w="1905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862072" y="2057400"/>
            <a:ext cx="1874520" cy="54864"/>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387852" y="2377440"/>
            <a:ext cx="822960" cy="822960"/>
          </a:xfrm>
          <a:prstGeom prst="ellipse">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2800" b="1">
                <a:solidFill>
                  <a:srgbClr val="FFFFFF"/>
                </a:solidFill>
                <a:latin typeface="Segoe UI Emoji"/>
              </a:defRPr>
            </a:pPr>
            <a:r>
              <a:t>📤</a:t>
            </a:r>
          </a:p>
        </p:txBody>
      </p:sp>
      <p:sp>
        <p:nvSpPr>
          <p:cNvPr id="21" name="TextBox 20"/>
          <p:cNvSpPr txBox="1"/>
          <p:nvPr/>
        </p:nvSpPr>
        <p:spPr>
          <a:xfrm>
            <a:off x="2770632" y="3383280"/>
            <a:ext cx="2057400" cy="320040"/>
          </a:xfrm>
          <a:prstGeom prst="rect">
            <a:avLst/>
          </a:prstGeom>
          <a:noFill/>
        </p:spPr>
        <p:txBody>
          <a:bodyPr wrap="square">
            <a:spAutoFit/>
          </a:bodyPr>
          <a:lstStyle/>
          <a:p>
            <a:pPr algn="ctr">
              <a:lnSpc>
                <a:spcPts val="1439"/>
              </a:lnSpc>
              <a:spcAft>
                <a:spcPts val="0"/>
              </a:spcAft>
              <a:defRPr sz="1200" b="1">
                <a:solidFill>
                  <a:srgbClr val="009688"/>
                </a:solidFill>
                <a:latin typeface="Calibri"/>
              </a:defRPr>
            </a:pPr>
            <a:r>
              <a:t>02</a:t>
            </a:r>
          </a:p>
        </p:txBody>
      </p:sp>
      <p:sp>
        <p:nvSpPr>
          <p:cNvPr id="22" name="TextBox 21"/>
          <p:cNvSpPr txBox="1"/>
          <p:nvPr/>
        </p:nvSpPr>
        <p:spPr>
          <a:xfrm>
            <a:off x="2907792" y="3703320"/>
            <a:ext cx="1783080" cy="640080"/>
          </a:xfrm>
          <a:prstGeom prst="rect">
            <a:avLst/>
          </a:prstGeom>
          <a:noFill/>
        </p:spPr>
        <p:txBody>
          <a:bodyPr wrap="square">
            <a:spAutoFit/>
          </a:bodyPr>
          <a:lstStyle/>
          <a:p>
            <a:pPr algn="ctr">
              <a:lnSpc>
                <a:spcPts val="1680"/>
              </a:lnSpc>
              <a:spcAft>
                <a:spcPts val="0"/>
              </a:spcAft>
              <a:defRPr sz="1400" b="1">
                <a:solidFill>
                  <a:srgbClr val="1B4F72"/>
                </a:solidFill>
                <a:latin typeface="Calibri"/>
              </a:defRPr>
            </a:pPr>
            <a:r>
              <a:t>Easy Upload</a:t>
            </a:r>
            <a:br/>
            <a:r>
              <a:t>System</a:t>
            </a:r>
          </a:p>
        </p:txBody>
      </p:sp>
      <p:sp>
        <p:nvSpPr>
          <p:cNvPr id="23" name="TextBox 22"/>
          <p:cNvSpPr txBox="1"/>
          <p:nvPr/>
        </p:nvSpPr>
        <p:spPr>
          <a:xfrm>
            <a:off x="2907792" y="4434840"/>
            <a:ext cx="1783080" cy="1097280"/>
          </a:xfrm>
          <a:prstGeom prst="rect">
            <a:avLst/>
          </a:prstGeom>
          <a:noFill/>
        </p:spPr>
        <p:txBody>
          <a:bodyPr wrap="square">
            <a:spAutoFit/>
          </a:bodyPr>
          <a:lstStyle/>
          <a:p>
            <a:pPr algn="ctr">
              <a:lnSpc>
                <a:spcPts val="1800"/>
              </a:lnSpc>
              <a:spcAft>
                <a:spcPts val="0"/>
              </a:spcAft>
              <a:defRPr sz="1200" b="0">
                <a:solidFill>
                  <a:srgbClr val="5A5A7A"/>
                </a:solidFill>
                <a:latin typeface="Calibri"/>
              </a:defRPr>
            </a:pPr>
            <a:r>
              <a:t>Upload PDFs without</a:t>
            </a:r>
            <a:br/>
            <a:r>
              <a:t>any registration</a:t>
            </a:r>
          </a:p>
        </p:txBody>
      </p:sp>
      <p:sp>
        <p:nvSpPr>
          <p:cNvPr id="24" name="Rectangle 23"/>
          <p:cNvSpPr/>
          <p:nvPr/>
        </p:nvSpPr>
        <p:spPr>
          <a:xfrm>
            <a:off x="3319272" y="5760720"/>
            <a:ext cx="960120" cy="36576"/>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084064" y="2011680"/>
            <a:ext cx="2057400" cy="4023360"/>
          </a:xfrm>
          <a:prstGeom prst="roundRect">
            <a:avLst/>
          </a:prstGeom>
          <a:solidFill>
            <a:srgbClr val="FFFFFF"/>
          </a:solidFill>
          <a:ln w="1905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175504" y="2057400"/>
            <a:ext cx="1874520" cy="54864"/>
          </a:xfrm>
          <a:prstGeom prst="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5701284" y="2377440"/>
            <a:ext cx="822960" cy="822960"/>
          </a:xfrm>
          <a:prstGeom prst="ellipse">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2800" b="1">
                <a:solidFill>
                  <a:srgbClr val="FFFFFF"/>
                </a:solidFill>
                <a:latin typeface="Segoe UI Emoji"/>
              </a:defRPr>
            </a:pPr>
            <a:r>
              <a:t>🔎</a:t>
            </a:r>
          </a:p>
        </p:txBody>
      </p:sp>
      <p:sp>
        <p:nvSpPr>
          <p:cNvPr id="28" name="TextBox 27"/>
          <p:cNvSpPr txBox="1"/>
          <p:nvPr/>
        </p:nvSpPr>
        <p:spPr>
          <a:xfrm>
            <a:off x="5084064" y="3383280"/>
            <a:ext cx="2057400" cy="320040"/>
          </a:xfrm>
          <a:prstGeom prst="rect">
            <a:avLst/>
          </a:prstGeom>
          <a:noFill/>
        </p:spPr>
        <p:txBody>
          <a:bodyPr wrap="square">
            <a:spAutoFit/>
          </a:bodyPr>
          <a:lstStyle/>
          <a:p>
            <a:pPr algn="ctr">
              <a:lnSpc>
                <a:spcPts val="1439"/>
              </a:lnSpc>
              <a:spcAft>
                <a:spcPts val="0"/>
              </a:spcAft>
              <a:defRPr sz="1200" b="1">
                <a:solidFill>
                  <a:srgbClr val="FF9800"/>
                </a:solidFill>
                <a:latin typeface="Calibri"/>
              </a:defRPr>
            </a:pPr>
            <a:r>
              <a:t>03</a:t>
            </a:r>
          </a:p>
        </p:txBody>
      </p:sp>
      <p:sp>
        <p:nvSpPr>
          <p:cNvPr id="29" name="TextBox 28"/>
          <p:cNvSpPr txBox="1"/>
          <p:nvPr/>
        </p:nvSpPr>
        <p:spPr>
          <a:xfrm>
            <a:off x="5221224" y="3703320"/>
            <a:ext cx="1783080" cy="640080"/>
          </a:xfrm>
          <a:prstGeom prst="rect">
            <a:avLst/>
          </a:prstGeom>
          <a:noFill/>
        </p:spPr>
        <p:txBody>
          <a:bodyPr wrap="square">
            <a:spAutoFit/>
          </a:bodyPr>
          <a:lstStyle/>
          <a:p>
            <a:pPr algn="ctr">
              <a:lnSpc>
                <a:spcPts val="1680"/>
              </a:lnSpc>
              <a:spcAft>
                <a:spcPts val="0"/>
              </a:spcAft>
              <a:defRPr sz="1400" b="1">
                <a:solidFill>
                  <a:srgbClr val="1B4F72"/>
                </a:solidFill>
                <a:latin typeface="Calibri"/>
              </a:defRPr>
            </a:pPr>
            <a:r>
              <a:t>Smart Search</a:t>
            </a:r>
            <a:br/>
            <a:r>
              <a:t>&amp; Filters</a:t>
            </a:r>
          </a:p>
        </p:txBody>
      </p:sp>
      <p:sp>
        <p:nvSpPr>
          <p:cNvPr id="30" name="TextBox 29"/>
          <p:cNvSpPr txBox="1"/>
          <p:nvPr/>
        </p:nvSpPr>
        <p:spPr>
          <a:xfrm>
            <a:off x="5221224" y="4434840"/>
            <a:ext cx="1783080" cy="1097280"/>
          </a:xfrm>
          <a:prstGeom prst="rect">
            <a:avLst/>
          </a:prstGeom>
          <a:noFill/>
        </p:spPr>
        <p:txBody>
          <a:bodyPr wrap="square">
            <a:spAutoFit/>
          </a:bodyPr>
          <a:lstStyle/>
          <a:p>
            <a:pPr algn="ctr">
              <a:lnSpc>
                <a:spcPts val="1800"/>
              </a:lnSpc>
              <a:spcAft>
                <a:spcPts val="0"/>
              </a:spcAft>
              <a:defRPr sz="1200" b="0">
                <a:solidFill>
                  <a:srgbClr val="5A5A7A"/>
                </a:solidFill>
                <a:latin typeface="Calibri"/>
              </a:defRPr>
            </a:pPr>
            <a:r>
              <a:t>Find papers by subject,</a:t>
            </a:r>
            <a:br/>
            <a:r>
              <a:t>year, and exam type</a:t>
            </a:r>
          </a:p>
        </p:txBody>
      </p:sp>
      <p:sp>
        <p:nvSpPr>
          <p:cNvPr id="31" name="Rectangle 30"/>
          <p:cNvSpPr/>
          <p:nvPr/>
        </p:nvSpPr>
        <p:spPr>
          <a:xfrm>
            <a:off x="5632704" y="5760720"/>
            <a:ext cx="960120" cy="36576"/>
          </a:xfrm>
          <a:prstGeom prst="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7397496" y="2011680"/>
            <a:ext cx="2057400" cy="4023360"/>
          </a:xfrm>
          <a:prstGeom prst="roundRect">
            <a:avLst/>
          </a:prstGeom>
          <a:solidFill>
            <a:srgbClr val="FFFFFF"/>
          </a:solidFill>
          <a:ln w="1905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488936" y="2057400"/>
            <a:ext cx="1874520" cy="54864"/>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8014716" y="2377440"/>
            <a:ext cx="822960" cy="822960"/>
          </a:xfrm>
          <a:prstGeom prst="ellipse">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2800" b="1">
                <a:solidFill>
                  <a:srgbClr val="FFFFFF"/>
                </a:solidFill>
                <a:latin typeface="Segoe UI Emoji"/>
              </a:defRPr>
            </a:pPr>
            <a:r>
              <a:t>✅</a:t>
            </a:r>
          </a:p>
        </p:txBody>
      </p:sp>
      <p:sp>
        <p:nvSpPr>
          <p:cNvPr id="35" name="TextBox 34"/>
          <p:cNvSpPr txBox="1"/>
          <p:nvPr/>
        </p:nvSpPr>
        <p:spPr>
          <a:xfrm>
            <a:off x="7397496" y="3383280"/>
            <a:ext cx="2057400" cy="320040"/>
          </a:xfrm>
          <a:prstGeom prst="rect">
            <a:avLst/>
          </a:prstGeom>
          <a:noFill/>
        </p:spPr>
        <p:txBody>
          <a:bodyPr wrap="square">
            <a:spAutoFit/>
          </a:bodyPr>
          <a:lstStyle/>
          <a:p>
            <a:pPr algn="ctr">
              <a:lnSpc>
                <a:spcPts val="1439"/>
              </a:lnSpc>
              <a:spcAft>
                <a:spcPts val="0"/>
              </a:spcAft>
              <a:defRPr sz="1200" b="1">
                <a:solidFill>
                  <a:srgbClr val="4CAF50"/>
                </a:solidFill>
                <a:latin typeface="Calibri"/>
              </a:defRPr>
            </a:pPr>
            <a:r>
              <a:t>04</a:t>
            </a:r>
          </a:p>
        </p:txBody>
      </p:sp>
      <p:sp>
        <p:nvSpPr>
          <p:cNvPr id="36" name="TextBox 35"/>
          <p:cNvSpPr txBox="1"/>
          <p:nvPr/>
        </p:nvSpPr>
        <p:spPr>
          <a:xfrm>
            <a:off x="7534656" y="3703320"/>
            <a:ext cx="1783080" cy="640080"/>
          </a:xfrm>
          <a:prstGeom prst="rect">
            <a:avLst/>
          </a:prstGeom>
          <a:noFill/>
        </p:spPr>
        <p:txBody>
          <a:bodyPr wrap="square">
            <a:spAutoFit/>
          </a:bodyPr>
          <a:lstStyle/>
          <a:p>
            <a:pPr algn="ctr">
              <a:lnSpc>
                <a:spcPts val="1680"/>
              </a:lnSpc>
              <a:spcAft>
                <a:spcPts val="0"/>
              </a:spcAft>
              <a:defRPr sz="1400" b="1">
                <a:solidFill>
                  <a:srgbClr val="1B4F72"/>
                </a:solidFill>
                <a:latin typeface="Calibri"/>
              </a:defRPr>
            </a:pPr>
            <a:r>
              <a:t>Admin Approval</a:t>
            </a:r>
            <a:br/>
            <a:r>
              <a:t>System</a:t>
            </a:r>
          </a:p>
        </p:txBody>
      </p:sp>
      <p:sp>
        <p:nvSpPr>
          <p:cNvPr id="37" name="TextBox 36"/>
          <p:cNvSpPr txBox="1"/>
          <p:nvPr/>
        </p:nvSpPr>
        <p:spPr>
          <a:xfrm>
            <a:off x="7534656" y="4434840"/>
            <a:ext cx="1783080" cy="1097280"/>
          </a:xfrm>
          <a:prstGeom prst="rect">
            <a:avLst/>
          </a:prstGeom>
          <a:noFill/>
        </p:spPr>
        <p:txBody>
          <a:bodyPr wrap="square">
            <a:spAutoFit/>
          </a:bodyPr>
          <a:lstStyle/>
          <a:p>
            <a:pPr algn="ctr">
              <a:lnSpc>
                <a:spcPts val="1800"/>
              </a:lnSpc>
              <a:spcAft>
                <a:spcPts val="0"/>
              </a:spcAft>
              <a:defRPr sz="1200" b="0">
                <a:solidFill>
                  <a:srgbClr val="5A5A7A"/>
                </a:solidFill>
                <a:latin typeface="Calibri"/>
              </a:defRPr>
            </a:pPr>
            <a:r>
              <a:t>Quality control through</a:t>
            </a:r>
            <a:br/>
            <a:r>
              <a:t>admin review process</a:t>
            </a:r>
          </a:p>
        </p:txBody>
      </p:sp>
      <p:sp>
        <p:nvSpPr>
          <p:cNvPr id="38" name="Rectangle 37"/>
          <p:cNvSpPr/>
          <p:nvPr/>
        </p:nvSpPr>
        <p:spPr>
          <a:xfrm>
            <a:off x="7946136" y="5760720"/>
            <a:ext cx="960120" cy="36576"/>
          </a:xfrm>
          <a:prstGeom prst="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9710928" y="2011680"/>
            <a:ext cx="2057400" cy="4023360"/>
          </a:xfrm>
          <a:prstGeom prst="roundRect">
            <a:avLst/>
          </a:prstGeom>
          <a:solidFill>
            <a:srgbClr val="FFFFFF"/>
          </a:solidFill>
          <a:ln w="1905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9802368" y="2057400"/>
            <a:ext cx="1874520" cy="54864"/>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10328148" y="2377440"/>
            <a:ext cx="822960" cy="822960"/>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2800" b="1">
                <a:solidFill>
                  <a:srgbClr val="FFFFFF"/>
                </a:solidFill>
                <a:latin typeface="Segoe UI Emoji"/>
              </a:defRPr>
            </a:pPr>
            <a:r>
              <a:t>👥</a:t>
            </a:r>
          </a:p>
        </p:txBody>
      </p:sp>
      <p:sp>
        <p:nvSpPr>
          <p:cNvPr id="42" name="TextBox 41"/>
          <p:cNvSpPr txBox="1"/>
          <p:nvPr/>
        </p:nvSpPr>
        <p:spPr>
          <a:xfrm>
            <a:off x="9710928" y="3383280"/>
            <a:ext cx="2057400" cy="320040"/>
          </a:xfrm>
          <a:prstGeom prst="rect">
            <a:avLst/>
          </a:prstGeom>
          <a:noFill/>
        </p:spPr>
        <p:txBody>
          <a:bodyPr wrap="square">
            <a:spAutoFit/>
          </a:bodyPr>
          <a:lstStyle/>
          <a:p>
            <a:pPr algn="ctr">
              <a:lnSpc>
                <a:spcPts val="1439"/>
              </a:lnSpc>
              <a:spcAft>
                <a:spcPts val="0"/>
              </a:spcAft>
              <a:defRPr sz="1200" b="1">
                <a:solidFill>
                  <a:srgbClr val="7B1FA2"/>
                </a:solidFill>
                <a:latin typeface="Calibri"/>
              </a:defRPr>
            </a:pPr>
            <a:r>
              <a:t>05</a:t>
            </a:r>
          </a:p>
        </p:txBody>
      </p:sp>
      <p:sp>
        <p:nvSpPr>
          <p:cNvPr id="43" name="TextBox 42"/>
          <p:cNvSpPr txBox="1"/>
          <p:nvPr/>
        </p:nvSpPr>
        <p:spPr>
          <a:xfrm>
            <a:off x="9848088" y="3703320"/>
            <a:ext cx="1783080" cy="640080"/>
          </a:xfrm>
          <a:prstGeom prst="rect">
            <a:avLst/>
          </a:prstGeom>
          <a:noFill/>
        </p:spPr>
        <p:txBody>
          <a:bodyPr wrap="square">
            <a:spAutoFit/>
          </a:bodyPr>
          <a:lstStyle/>
          <a:p>
            <a:pPr algn="ctr">
              <a:lnSpc>
                <a:spcPts val="1680"/>
              </a:lnSpc>
              <a:spcAft>
                <a:spcPts val="0"/>
              </a:spcAft>
              <a:defRPr sz="1400" b="1">
                <a:solidFill>
                  <a:srgbClr val="1B4F72"/>
                </a:solidFill>
                <a:latin typeface="Calibri"/>
              </a:defRPr>
            </a:pPr>
            <a:r>
              <a:t>Student</a:t>
            </a:r>
            <a:br/>
            <a:r>
              <a:t>Access</a:t>
            </a:r>
          </a:p>
        </p:txBody>
      </p:sp>
      <p:sp>
        <p:nvSpPr>
          <p:cNvPr id="44" name="TextBox 43"/>
          <p:cNvSpPr txBox="1"/>
          <p:nvPr/>
        </p:nvSpPr>
        <p:spPr>
          <a:xfrm>
            <a:off x="9848088" y="4434840"/>
            <a:ext cx="1783080" cy="1097280"/>
          </a:xfrm>
          <a:prstGeom prst="rect">
            <a:avLst/>
          </a:prstGeom>
          <a:noFill/>
        </p:spPr>
        <p:txBody>
          <a:bodyPr wrap="square">
            <a:spAutoFit/>
          </a:bodyPr>
          <a:lstStyle/>
          <a:p>
            <a:pPr algn="ctr">
              <a:lnSpc>
                <a:spcPts val="1800"/>
              </a:lnSpc>
              <a:spcAft>
                <a:spcPts val="0"/>
              </a:spcAft>
              <a:defRPr sz="1200" b="0">
                <a:solidFill>
                  <a:srgbClr val="5A5A7A"/>
                </a:solidFill>
                <a:latin typeface="Calibri"/>
              </a:defRPr>
            </a:pPr>
            <a:r>
              <a:t>Free and easy access</a:t>
            </a:r>
            <a:br/>
            <a:r>
              <a:t>for all students</a:t>
            </a:r>
          </a:p>
        </p:txBody>
      </p:sp>
      <p:sp>
        <p:nvSpPr>
          <p:cNvPr id="45" name="Rectangle 44"/>
          <p:cNvSpPr/>
          <p:nvPr/>
        </p:nvSpPr>
        <p:spPr>
          <a:xfrm>
            <a:off x="10259568" y="5760720"/>
            <a:ext cx="960120" cy="36576"/>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54864"/>
            <a:ext cx="12191695" cy="10058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9144000" cy="502920"/>
          </a:xfrm>
          <a:prstGeom prst="rect">
            <a:avLst/>
          </a:prstGeom>
          <a:noFill/>
        </p:spPr>
        <p:txBody>
          <a:bodyPr wrap="square">
            <a:spAutoFit/>
          </a:bodyPr>
          <a:lstStyle/>
          <a:p>
            <a:pPr algn="l">
              <a:lnSpc>
                <a:spcPts val="3360"/>
              </a:lnSpc>
              <a:spcAft>
                <a:spcPts val="0"/>
              </a:spcAft>
              <a:defRPr sz="2800" b="1">
                <a:solidFill>
                  <a:srgbClr val="FFFFFF"/>
                </a:solidFill>
                <a:latin typeface="Calibri"/>
              </a:defRPr>
            </a:pPr>
            <a:r>
              <a:t>Technology Stack</a:t>
            </a:r>
          </a:p>
        </p:txBody>
      </p:sp>
      <p:sp>
        <p:nvSpPr>
          <p:cNvPr id="6" name="TextBox 5"/>
          <p:cNvSpPr txBox="1"/>
          <p:nvPr/>
        </p:nvSpPr>
        <p:spPr>
          <a:xfrm>
            <a:off x="548640" y="640080"/>
            <a:ext cx="9144000" cy="365760"/>
          </a:xfrm>
          <a:prstGeom prst="rect">
            <a:avLst/>
          </a:prstGeom>
          <a:noFill/>
        </p:spPr>
        <p:txBody>
          <a:bodyPr wrap="square">
            <a:spAutoFit/>
          </a:bodyPr>
          <a:lstStyle/>
          <a:p>
            <a:pPr algn="l">
              <a:lnSpc>
                <a:spcPts val="1680"/>
              </a:lnSpc>
              <a:spcAft>
                <a:spcPts val="0"/>
              </a:spcAft>
              <a:defRPr sz="1400" b="0">
                <a:solidFill>
                  <a:srgbClr val="BBDEFB"/>
                </a:solidFill>
                <a:latin typeface="Calibri"/>
              </a:defRPr>
            </a:pPr>
            <a:r>
              <a:t>Layered architecture with modern technologies</a:t>
            </a:r>
          </a:p>
        </p:txBody>
      </p:sp>
      <p:sp>
        <p:nvSpPr>
          <p:cNvPr id="7" name="TextBox 6"/>
          <p:cNvSpPr txBox="1"/>
          <p:nvPr/>
        </p:nvSpPr>
        <p:spPr>
          <a:xfrm>
            <a:off x="10241280" y="320040"/>
            <a:ext cx="1828800" cy="411480"/>
          </a:xfrm>
          <a:prstGeom prst="rect">
            <a:avLst/>
          </a:prstGeom>
          <a:noFill/>
        </p:spPr>
        <p:txBody>
          <a:bodyPr wrap="square">
            <a:spAutoFit/>
          </a:bodyPr>
          <a:lstStyle/>
          <a:p>
            <a:pPr algn="r">
              <a:lnSpc>
                <a:spcPts val="1920"/>
              </a:lnSpc>
              <a:spcAft>
                <a:spcPts val="0"/>
              </a:spcAft>
              <a:defRPr sz="1600" b="1">
                <a:solidFill>
                  <a:srgbClr val="2196F3"/>
                </a:solidFill>
                <a:latin typeface="Calibri"/>
              </a:defRPr>
            </a:pPr>
            <a:r>
              <a:t>PaperVault</a:t>
            </a:r>
          </a:p>
        </p:txBody>
      </p:sp>
      <p:sp>
        <p:nvSpPr>
          <p:cNvPr id="8" name="Rectangle 7"/>
          <p:cNvSpPr/>
          <p:nvPr/>
        </p:nvSpPr>
        <p:spPr>
          <a:xfrm>
            <a:off x="0" y="6656832"/>
            <a:ext cx="12191695" cy="201168"/>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55680" y="6446520"/>
            <a:ext cx="914400" cy="320040"/>
          </a:xfrm>
          <a:prstGeom prst="rect">
            <a:avLst/>
          </a:prstGeom>
          <a:noFill/>
        </p:spPr>
        <p:txBody>
          <a:bodyPr wrap="square">
            <a:spAutoFit/>
          </a:bodyPr>
          <a:lstStyle/>
          <a:p>
            <a:pPr algn="r">
              <a:lnSpc>
                <a:spcPts val="1200"/>
              </a:lnSpc>
              <a:spcAft>
                <a:spcPts val="0"/>
              </a:spcAft>
              <a:defRPr sz="1000" b="0">
                <a:solidFill>
                  <a:srgbClr val="5A5A7A"/>
                </a:solidFill>
                <a:latin typeface="Calibri"/>
              </a:defRPr>
            </a:pPr>
            <a:r>
              <a:t>4 / 8</a:t>
            </a:r>
          </a:p>
        </p:txBody>
      </p:sp>
      <p:sp>
        <p:nvSpPr>
          <p:cNvPr id="10" name="Rounded Rectangle 9"/>
          <p:cNvSpPr/>
          <p:nvPr/>
        </p:nvSpPr>
        <p:spPr>
          <a:xfrm>
            <a:off x="1280160" y="1463040"/>
            <a:ext cx="9601200" cy="777240"/>
          </a:xfrm>
          <a:prstGeom prst="round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54480" y="1572768"/>
            <a:ext cx="457200" cy="548640"/>
          </a:xfrm>
          <a:prstGeom prst="rect">
            <a:avLst/>
          </a:prstGeom>
          <a:noFill/>
        </p:spPr>
        <p:txBody>
          <a:bodyPr wrap="square">
            <a:spAutoFit/>
          </a:bodyPr>
          <a:lstStyle/>
          <a:p>
            <a:pPr algn="ctr">
              <a:lnSpc>
                <a:spcPts val="2640"/>
              </a:lnSpc>
              <a:spcAft>
                <a:spcPts val="0"/>
              </a:spcAft>
              <a:defRPr sz="2200" b="0">
                <a:solidFill>
                  <a:srgbClr val="FFFFFF"/>
                </a:solidFill>
                <a:latin typeface="Segoe UI Emoji"/>
              </a:defRPr>
            </a:pPr>
            <a:r>
              <a:t>⚛️</a:t>
            </a:r>
          </a:p>
        </p:txBody>
      </p:sp>
      <p:sp>
        <p:nvSpPr>
          <p:cNvPr id="12" name="TextBox 11"/>
          <p:cNvSpPr txBox="1"/>
          <p:nvPr/>
        </p:nvSpPr>
        <p:spPr>
          <a:xfrm>
            <a:off x="2103120" y="1536192"/>
            <a:ext cx="3200400" cy="320040"/>
          </a:xfrm>
          <a:prstGeom prst="rect">
            <a:avLst/>
          </a:prstGeom>
          <a:noFill/>
        </p:spPr>
        <p:txBody>
          <a:bodyPr wrap="square">
            <a:spAutoFit/>
          </a:bodyPr>
          <a:lstStyle/>
          <a:p>
            <a:pPr algn="l">
              <a:lnSpc>
                <a:spcPts val="1680"/>
              </a:lnSpc>
              <a:spcAft>
                <a:spcPts val="0"/>
              </a:spcAft>
              <a:defRPr sz="1400" b="1">
                <a:solidFill>
                  <a:srgbClr val="FFFFFF"/>
                </a:solidFill>
                <a:latin typeface="Calibri"/>
              </a:defRPr>
            </a:pPr>
            <a:r>
              <a:t>PRESENTATION LAYER</a:t>
            </a:r>
          </a:p>
        </p:txBody>
      </p:sp>
      <p:sp>
        <p:nvSpPr>
          <p:cNvPr id="13" name="TextBox 12"/>
          <p:cNvSpPr txBox="1"/>
          <p:nvPr/>
        </p:nvSpPr>
        <p:spPr>
          <a:xfrm>
            <a:off x="2103120" y="1856232"/>
            <a:ext cx="8229600" cy="320040"/>
          </a:xfrm>
          <a:prstGeom prst="rect">
            <a:avLst/>
          </a:prstGeom>
          <a:noFill/>
        </p:spPr>
        <p:txBody>
          <a:bodyPr wrap="square">
            <a:spAutoFit/>
          </a:bodyPr>
          <a:lstStyle/>
          <a:p>
            <a:pPr algn="l">
              <a:lnSpc>
                <a:spcPts val="1439"/>
              </a:lnSpc>
              <a:spcAft>
                <a:spcPts val="0"/>
              </a:spcAft>
              <a:defRPr sz="1200" b="0">
                <a:solidFill>
                  <a:srgbClr val="E8EAF6"/>
                </a:solidFill>
                <a:latin typeface="Calibri"/>
              </a:defRPr>
            </a:pPr>
            <a:r>
              <a:t>React.js  •  Tailwind CSS  •  Axios  •  Responsive UI</a:t>
            </a:r>
          </a:p>
        </p:txBody>
      </p:sp>
      <p:sp>
        <p:nvSpPr>
          <p:cNvPr id="14" name="Down Arrow 13"/>
          <p:cNvSpPr/>
          <p:nvPr/>
        </p:nvSpPr>
        <p:spPr>
          <a:xfrm>
            <a:off x="5920740" y="2240280"/>
            <a:ext cx="320040" cy="182880"/>
          </a:xfrm>
          <a:prstGeom prst="downArrow">
            <a:avLst/>
          </a:prstGeom>
          <a:solidFill>
            <a:srgbClr val="5A5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280160" y="2423160"/>
            <a:ext cx="9601200" cy="77724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554480" y="2532888"/>
            <a:ext cx="457200" cy="548640"/>
          </a:xfrm>
          <a:prstGeom prst="rect">
            <a:avLst/>
          </a:prstGeom>
          <a:noFill/>
        </p:spPr>
        <p:txBody>
          <a:bodyPr wrap="square">
            <a:spAutoFit/>
          </a:bodyPr>
          <a:lstStyle/>
          <a:p>
            <a:pPr algn="ctr">
              <a:lnSpc>
                <a:spcPts val="2640"/>
              </a:lnSpc>
              <a:spcAft>
                <a:spcPts val="0"/>
              </a:spcAft>
              <a:defRPr sz="2200" b="0">
                <a:solidFill>
                  <a:srgbClr val="FFFFFF"/>
                </a:solidFill>
                <a:latin typeface="Segoe UI Emoji"/>
              </a:defRPr>
            </a:pPr>
            <a:r>
              <a:t>🔗</a:t>
            </a:r>
          </a:p>
        </p:txBody>
      </p:sp>
      <p:sp>
        <p:nvSpPr>
          <p:cNvPr id="17" name="TextBox 16"/>
          <p:cNvSpPr txBox="1"/>
          <p:nvPr/>
        </p:nvSpPr>
        <p:spPr>
          <a:xfrm>
            <a:off x="2103120" y="2496312"/>
            <a:ext cx="3200400" cy="320040"/>
          </a:xfrm>
          <a:prstGeom prst="rect">
            <a:avLst/>
          </a:prstGeom>
          <a:noFill/>
        </p:spPr>
        <p:txBody>
          <a:bodyPr wrap="square">
            <a:spAutoFit/>
          </a:bodyPr>
          <a:lstStyle/>
          <a:p>
            <a:pPr algn="l">
              <a:lnSpc>
                <a:spcPts val="1680"/>
              </a:lnSpc>
              <a:spcAft>
                <a:spcPts val="0"/>
              </a:spcAft>
              <a:defRPr sz="1400" b="1">
                <a:solidFill>
                  <a:srgbClr val="FFFFFF"/>
                </a:solidFill>
                <a:latin typeface="Calibri"/>
              </a:defRPr>
            </a:pPr>
            <a:r>
              <a:t>API LAYER</a:t>
            </a:r>
          </a:p>
        </p:txBody>
      </p:sp>
      <p:sp>
        <p:nvSpPr>
          <p:cNvPr id="18" name="TextBox 17"/>
          <p:cNvSpPr txBox="1"/>
          <p:nvPr/>
        </p:nvSpPr>
        <p:spPr>
          <a:xfrm>
            <a:off x="2103120" y="2816352"/>
            <a:ext cx="8229600" cy="320040"/>
          </a:xfrm>
          <a:prstGeom prst="rect">
            <a:avLst/>
          </a:prstGeom>
          <a:noFill/>
        </p:spPr>
        <p:txBody>
          <a:bodyPr wrap="square">
            <a:spAutoFit/>
          </a:bodyPr>
          <a:lstStyle/>
          <a:p>
            <a:pPr algn="l">
              <a:lnSpc>
                <a:spcPts val="1439"/>
              </a:lnSpc>
              <a:spcAft>
                <a:spcPts val="0"/>
              </a:spcAft>
              <a:defRPr sz="1200" b="0">
                <a:solidFill>
                  <a:srgbClr val="E8EAF6"/>
                </a:solidFill>
                <a:latin typeface="Calibri"/>
              </a:defRPr>
            </a:pPr>
            <a:r>
              <a:t>Express.js APIs  •  Netlify Serverless Functions  •  REST Endpoints</a:t>
            </a:r>
          </a:p>
        </p:txBody>
      </p:sp>
      <p:sp>
        <p:nvSpPr>
          <p:cNvPr id="19" name="Down Arrow 18"/>
          <p:cNvSpPr/>
          <p:nvPr/>
        </p:nvSpPr>
        <p:spPr>
          <a:xfrm>
            <a:off x="5920740" y="3200400"/>
            <a:ext cx="320040" cy="182880"/>
          </a:xfrm>
          <a:prstGeom prst="downArrow">
            <a:avLst/>
          </a:prstGeom>
          <a:solidFill>
            <a:srgbClr val="5A5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280160" y="3383280"/>
            <a:ext cx="9601200" cy="777240"/>
          </a:xfrm>
          <a:prstGeom prst="round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554480" y="3493008"/>
            <a:ext cx="457200" cy="548640"/>
          </a:xfrm>
          <a:prstGeom prst="rect">
            <a:avLst/>
          </a:prstGeom>
          <a:noFill/>
        </p:spPr>
        <p:txBody>
          <a:bodyPr wrap="square">
            <a:spAutoFit/>
          </a:bodyPr>
          <a:lstStyle/>
          <a:p>
            <a:pPr algn="ctr">
              <a:lnSpc>
                <a:spcPts val="2640"/>
              </a:lnSpc>
              <a:spcAft>
                <a:spcPts val="0"/>
              </a:spcAft>
              <a:defRPr sz="2200" b="0">
                <a:solidFill>
                  <a:srgbClr val="FFFFFF"/>
                </a:solidFill>
                <a:latin typeface="Segoe UI Emoji"/>
              </a:defRPr>
            </a:pPr>
            <a:r>
              <a:t>🔒</a:t>
            </a:r>
          </a:p>
        </p:txBody>
      </p:sp>
      <p:sp>
        <p:nvSpPr>
          <p:cNvPr id="22" name="TextBox 21"/>
          <p:cNvSpPr txBox="1"/>
          <p:nvPr/>
        </p:nvSpPr>
        <p:spPr>
          <a:xfrm>
            <a:off x="2103120" y="3456432"/>
            <a:ext cx="3200400" cy="320040"/>
          </a:xfrm>
          <a:prstGeom prst="rect">
            <a:avLst/>
          </a:prstGeom>
          <a:noFill/>
        </p:spPr>
        <p:txBody>
          <a:bodyPr wrap="square">
            <a:spAutoFit/>
          </a:bodyPr>
          <a:lstStyle/>
          <a:p>
            <a:pPr algn="l">
              <a:lnSpc>
                <a:spcPts val="1680"/>
              </a:lnSpc>
              <a:spcAft>
                <a:spcPts val="0"/>
              </a:spcAft>
              <a:defRPr sz="1400" b="1">
                <a:solidFill>
                  <a:srgbClr val="FFFFFF"/>
                </a:solidFill>
                <a:latin typeface="Calibri"/>
              </a:defRPr>
            </a:pPr>
            <a:r>
              <a:t>SECURITY LAYER</a:t>
            </a:r>
          </a:p>
        </p:txBody>
      </p:sp>
      <p:sp>
        <p:nvSpPr>
          <p:cNvPr id="23" name="TextBox 22"/>
          <p:cNvSpPr txBox="1"/>
          <p:nvPr/>
        </p:nvSpPr>
        <p:spPr>
          <a:xfrm>
            <a:off x="2103120" y="3776472"/>
            <a:ext cx="8229600" cy="320040"/>
          </a:xfrm>
          <a:prstGeom prst="rect">
            <a:avLst/>
          </a:prstGeom>
          <a:noFill/>
        </p:spPr>
        <p:txBody>
          <a:bodyPr wrap="square">
            <a:spAutoFit/>
          </a:bodyPr>
          <a:lstStyle/>
          <a:p>
            <a:pPr algn="l">
              <a:lnSpc>
                <a:spcPts val="1439"/>
              </a:lnSpc>
              <a:spcAft>
                <a:spcPts val="0"/>
              </a:spcAft>
              <a:defRPr sz="1200" b="0">
                <a:solidFill>
                  <a:srgbClr val="E8EAF6"/>
                </a:solidFill>
                <a:latin typeface="Calibri"/>
              </a:defRPr>
            </a:pPr>
            <a:r>
              <a:t>JWT Authentication  •  Protected Routes  •  Admin Authorization</a:t>
            </a:r>
          </a:p>
        </p:txBody>
      </p:sp>
      <p:sp>
        <p:nvSpPr>
          <p:cNvPr id="24" name="Down Arrow 23"/>
          <p:cNvSpPr/>
          <p:nvPr/>
        </p:nvSpPr>
        <p:spPr>
          <a:xfrm>
            <a:off x="5920740" y="4160520"/>
            <a:ext cx="320040" cy="182880"/>
          </a:xfrm>
          <a:prstGeom prst="downArrow">
            <a:avLst/>
          </a:prstGeom>
          <a:solidFill>
            <a:srgbClr val="5A5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280160" y="4343400"/>
            <a:ext cx="9601200" cy="777240"/>
          </a:xfrm>
          <a:prstGeom prst="round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554480" y="4453128"/>
            <a:ext cx="457200" cy="548640"/>
          </a:xfrm>
          <a:prstGeom prst="rect">
            <a:avLst/>
          </a:prstGeom>
          <a:noFill/>
        </p:spPr>
        <p:txBody>
          <a:bodyPr wrap="square">
            <a:spAutoFit/>
          </a:bodyPr>
          <a:lstStyle/>
          <a:p>
            <a:pPr algn="ctr">
              <a:lnSpc>
                <a:spcPts val="2640"/>
              </a:lnSpc>
              <a:spcAft>
                <a:spcPts val="0"/>
              </a:spcAft>
              <a:defRPr sz="2200" b="0">
                <a:solidFill>
                  <a:srgbClr val="FFFFFF"/>
                </a:solidFill>
                <a:latin typeface="Segoe UI Emoji"/>
              </a:defRPr>
            </a:pPr>
            <a:r>
              <a:t>🗃️</a:t>
            </a:r>
          </a:p>
        </p:txBody>
      </p:sp>
      <p:sp>
        <p:nvSpPr>
          <p:cNvPr id="27" name="TextBox 26"/>
          <p:cNvSpPr txBox="1"/>
          <p:nvPr/>
        </p:nvSpPr>
        <p:spPr>
          <a:xfrm>
            <a:off x="2103120" y="4416552"/>
            <a:ext cx="3200400" cy="320040"/>
          </a:xfrm>
          <a:prstGeom prst="rect">
            <a:avLst/>
          </a:prstGeom>
          <a:noFill/>
        </p:spPr>
        <p:txBody>
          <a:bodyPr wrap="square">
            <a:spAutoFit/>
          </a:bodyPr>
          <a:lstStyle/>
          <a:p>
            <a:pPr algn="l">
              <a:lnSpc>
                <a:spcPts val="1680"/>
              </a:lnSpc>
              <a:spcAft>
                <a:spcPts val="0"/>
              </a:spcAft>
              <a:defRPr sz="1400" b="1">
                <a:solidFill>
                  <a:srgbClr val="FFFFFF"/>
                </a:solidFill>
                <a:latin typeface="Calibri"/>
              </a:defRPr>
            </a:pPr>
            <a:r>
              <a:t>DATA LAYER</a:t>
            </a:r>
          </a:p>
        </p:txBody>
      </p:sp>
      <p:sp>
        <p:nvSpPr>
          <p:cNvPr id="28" name="TextBox 27"/>
          <p:cNvSpPr txBox="1"/>
          <p:nvPr/>
        </p:nvSpPr>
        <p:spPr>
          <a:xfrm>
            <a:off x="2103120" y="4736592"/>
            <a:ext cx="8229600" cy="320040"/>
          </a:xfrm>
          <a:prstGeom prst="rect">
            <a:avLst/>
          </a:prstGeom>
          <a:noFill/>
        </p:spPr>
        <p:txBody>
          <a:bodyPr wrap="square">
            <a:spAutoFit/>
          </a:bodyPr>
          <a:lstStyle/>
          <a:p>
            <a:pPr algn="l">
              <a:lnSpc>
                <a:spcPts val="1439"/>
              </a:lnSpc>
              <a:spcAft>
                <a:spcPts val="0"/>
              </a:spcAft>
              <a:defRPr sz="1200" b="0">
                <a:solidFill>
                  <a:srgbClr val="E8EAF6"/>
                </a:solidFill>
                <a:latin typeface="Calibri"/>
              </a:defRPr>
            </a:pPr>
            <a:r>
              <a:t>MongoDB Atlas  •  GridFS (PDF Storage)  •  Metadata Collections</a:t>
            </a:r>
          </a:p>
        </p:txBody>
      </p:sp>
      <p:sp>
        <p:nvSpPr>
          <p:cNvPr id="29" name="Down Arrow 28"/>
          <p:cNvSpPr/>
          <p:nvPr/>
        </p:nvSpPr>
        <p:spPr>
          <a:xfrm>
            <a:off x="5920740" y="5120640"/>
            <a:ext cx="320040" cy="182880"/>
          </a:xfrm>
          <a:prstGeom prst="downArrow">
            <a:avLst/>
          </a:prstGeom>
          <a:solidFill>
            <a:srgbClr val="5A5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1280160" y="5303520"/>
            <a:ext cx="9601200" cy="777240"/>
          </a:xfrm>
          <a:prstGeom prst="round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554480" y="5413248"/>
            <a:ext cx="457200" cy="548640"/>
          </a:xfrm>
          <a:prstGeom prst="rect">
            <a:avLst/>
          </a:prstGeom>
          <a:noFill/>
        </p:spPr>
        <p:txBody>
          <a:bodyPr wrap="square">
            <a:spAutoFit/>
          </a:bodyPr>
          <a:lstStyle/>
          <a:p>
            <a:pPr algn="ctr">
              <a:lnSpc>
                <a:spcPts val="2640"/>
              </a:lnSpc>
              <a:spcAft>
                <a:spcPts val="0"/>
              </a:spcAft>
              <a:defRPr sz="2200" b="0">
                <a:solidFill>
                  <a:srgbClr val="FFFFFF"/>
                </a:solidFill>
                <a:latin typeface="Segoe UI Emoji"/>
              </a:defRPr>
            </a:pPr>
            <a:r>
              <a:t>☁️</a:t>
            </a:r>
          </a:p>
        </p:txBody>
      </p:sp>
      <p:sp>
        <p:nvSpPr>
          <p:cNvPr id="32" name="TextBox 31"/>
          <p:cNvSpPr txBox="1"/>
          <p:nvPr/>
        </p:nvSpPr>
        <p:spPr>
          <a:xfrm>
            <a:off x="2103120" y="5376672"/>
            <a:ext cx="3200400" cy="320040"/>
          </a:xfrm>
          <a:prstGeom prst="rect">
            <a:avLst/>
          </a:prstGeom>
          <a:noFill/>
        </p:spPr>
        <p:txBody>
          <a:bodyPr wrap="square">
            <a:spAutoFit/>
          </a:bodyPr>
          <a:lstStyle/>
          <a:p>
            <a:pPr algn="l">
              <a:lnSpc>
                <a:spcPts val="1680"/>
              </a:lnSpc>
              <a:spcAft>
                <a:spcPts val="0"/>
              </a:spcAft>
              <a:defRPr sz="1400" b="1">
                <a:solidFill>
                  <a:srgbClr val="FFFFFF"/>
                </a:solidFill>
                <a:latin typeface="Calibri"/>
              </a:defRPr>
            </a:pPr>
            <a:r>
              <a:t>HOSTING &amp; DEPLOYMENT</a:t>
            </a:r>
          </a:p>
        </p:txBody>
      </p:sp>
      <p:sp>
        <p:nvSpPr>
          <p:cNvPr id="33" name="TextBox 32"/>
          <p:cNvSpPr txBox="1"/>
          <p:nvPr/>
        </p:nvSpPr>
        <p:spPr>
          <a:xfrm>
            <a:off x="2103120" y="5696712"/>
            <a:ext cx="8229600" cy="320040"/>
          </a:xfrm>
          <a:prstGeom prst="rect">
            <a:avLst/>
          </a:prstGeom>
          <a:noFill/>
        </p:spPr>
        <p:txBody>
          <a:bodyPr wrap="square">
            <a:spAutoFit/>
          </a:bodyPr>
          <a:lstStyle/>
          <a:p>
            <a:pPr algn="l">
              <a:lnSpc>
                <a:spcPts val="1439"/>
              </a:lnSpc>
              <a:spcAft>
                <a:spcPts val="0"/>
              </a:spcAft>
              <a:defRPr sz="1200" b="0">
                <a:solidFill>
                  <a:srgbClr val="E8EAF6"/>
                </a:solidFill>
                <a:latin typeface="Calibri"/>
              </a:defRPr>
            </a:pPr>
            <a:r>
              <a:t>Netlify  •  CI/CD Pipeline  •  Serverless Architecture</a:t>
            </a:r>
          </a:p>
        </p:txBody>
      </p:sp>
      <p:sp>
        <p:nvSpPr>
          <p:cNvPr id="34" name="Oval 33"/>
          <p:cNvSpPr/>
          <p:nvPr/>
        </p:nvSpPr>
        <p:spPr>
          <a:xfrm>
            <a:off x="411480" y="1581912"/>
            <a:ext cx="502920" cy="502920"/>
          </a:xfrm>
          <a:prstGeom prst="ellipse">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1600" b="1">
                <a:solidFill>
                  <a:srgbClr val="FFFFFF"/>
                </a:solidFill>
                <a:latin typeface="Segoe UI Emoji"/>
              </a:defRPr>
            </a:pPr>
            <a:r>
              <a:t>F</a:t>
            </a:r>
          </a:p>
        </p:txBody>
      </p:sp>
      <p:sp>
        <p:nvSpPr>
          <p:cNvPr id="35" name="Oval 34"/>
          <p:cNvSpPr/>
          <p:nvPr/>
        </p:nvSpPr>
        <p:spPr>
          <a:xfrm>
            <a:off x="411480" y="2542032"/>
            <a:ext cx="502920" cy="502920"/>
          </a:xfrm>
          <a:prstGeom prst="ellipse">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1600" b="1">
                <a:solidFill>
                  <a:srgbClr val="FFFFFF"/>
                </a:solidFill>
                <a:latin typeface="Segoe UI Emoji"/>
              </a:defRPr>
            </a:pPr>
            <a:r>
              <a:t>A</a:t>
            </a:r>
          </a:p>
        </p:txBody>
      </p:sp>
      <p:sp>
        <p:nvSpPr>
          <p:cNvPr id="36" name="Oval 35"/>
          <p:cNvSpPr/>
          <p:nvPr/>
        </p:nvSpPr>
        <p:spPr>
          <a:xfrm>
            <a:off x="411480" y="3502152"/>
            <a:ext cx="502920" cy="502920"/>
          </a:xfrm>
          <a:prstGeom prst="ellipse">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1600" b="1">
                <a:solidFill>
                  <a:srgbClr val="FFFFFF"/>
                </a:solidFill>
                <a:latin typeface="Segoe UI Emoji"/>
              </a:defRPr>
            </a:pPr>
            <a:r>
              <a:t>S</a:t>
            </a:r>
          </a:p>
        </p:txBody>
      </p:sp>
      <p:sp>
        <p:nvSpPr>
          <p:cNvPr id="37" name="Oval 36"/>
          <p:cNvSpPr/>
          <p:nvPr/>
        </p:nvSpPr>
        <p:spPr>
          <a:xfrm>
            <a:off x="411480" y="4462272"/>
            <a:ext cx="502920" cy="502920"/>
          </a:xfrm>
          <a:prstGeom prst="ellipse">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1600" b="1">
                <a:solidFill>
                  <a:srgbClr val="FFFFFF"/>
                </a:solidFill>
                <a:latin typeface="Segoe UI Emoji"/>
              </a:defRPr>
            </a:pPr>
            <a:r>
              <a:t>D</a:t>
            </a:r>
          </a:p>
        </p:txBody>
      </p:sp>
      <p:sp>
        <p:nvSpPr>
          <p:cNvPr id="38" name="Oval 37"/>
          <p:cNvSpPr/>
          <p:nvPr/>
        </p:nvSpPr>
        <p:spPr>
          <a:xfrm>
            <a:off x="411480" y="5422392"/>
            <a:ext cx="502920" cy="502920"/>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1600" b="1">
                <a:solidFill>
                  <a:srgbClr val="FFFFFF"/>
                </a:solidFill>
                <a:latin typeface="Segoe UI Emoji"/>
              </a:defRPr>
            </a:pPr>
            <a:r>
              <a:t>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54864"/>
            <a:ext cx="12191695" cy="10058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9144000" cy="502920"/>
          </a:xfrm>
          <a:prstGeom prst="rect">
            <a:avLst/>
          </a:prstGeom>
          <a:noFill/>
        </p:spPr>
        <p:txBody>
          <a:bodyPr wrap="square">
            <a:spAutoFit/>
          </a:bodyPr>
          <a:lstStyle/>
          <a:p>
            <a:pPr algn="l">
              <a:lnSpc>
                <a:spcPts val="3360"/>
              </a:lnSpc>
              <a:spcAft>
                <a:spcPts val="0"/>
              </a:spcAft>
              <a:defRPr sz="2800" b="1">
                <a:solidFill>
                  <a:srgbClr val="FFFFFF"/>
                </a:solidFill>
                <a:latin typeface="Calibri"/>
              </a:defRPr>
            </a:pPr>
            <a:r>
              <a:t>System Architecture</a:t>
            </a:r>
          </a:p>
        </p:txBody>
      </p:sp>
      <p:sp>
        <p:nvSpPr>
          <p:cNvPr id="6" name="TextBox 5"/>
          <p:cNvSpPr txBox="1"/>
          <p:nvPr/>
        </p:nvSpPr>
        <p:spPr>
          <a:xfrm>
            <a:off x="548640" y="640080"/>
            <a:ext cx="9144000" cy="365760"/>
          </a:xfrm>
          <a:prstGeom prst="rect">
            <a:avLst/>
          </a:prstGeom>
          <a:noFill/>
        </p:spPr>
        <p:txBody>
          <a:bodyPr wrap="square">
            <a:spAutoFit/>
          </a:bodyPr>
          <a:lstStyle/>
          <a:p>
            <a:pPr algn="l">
              <a:lnSpc>
                <a:spcPts val="1680"/>
              </a:lnSpc>
              <a:spcAft>
                <a:spcPts val="0"/>
              </a:spcAft>
              <a:defRPr sz="1400" b="0">
                <a:solidFill>
                  <a:srgbClr val="BBDEFB"/>
                </a:solidFill>
                <a:latin typeface="Calibri"/>
              </a:defRPr>
            </a:pPr>
            <a:r>
              <a:t>Data flow and component interaction diagram</a:t>
            </a:r>
          </a:p>
        </p:txBody>
      </p:sp>
      <p:sp>
        <p:nvSpPr>
          <p:cNvPr id="7" name="TextBox 6"/>
          <p:cNvSpPr txBox="1"/>
          <p:nvPr/>
        </p:nvSpPr>
        <p:spPr>
          <a:xfrm>
            <a:off x="10241280" y="320040"/>
            <a:ext cx="1828800" cy="411480"/>
          </a:xfrm>
          <a:prstGeom prst="rect">
            <a:avLst/>
          </a:prstGeom>
          <a:noFill/>
        </p:spPr>
        <p:txBody>
          <a:bodyPr wrap="square">
            <a:spAutoFit/>
          </a:bodyPr>
          <a:lstStyle/>
          <a:p>
            <a:pPr algn="r">
              <a:lnSpc>
                <a:spcPts val="1920"/>
              </a:lnSpc>
              <a:spcAft>
                <a:spcPts val="0"/>
              </a:spcAft>
              <a:defRPr sz="1600" b="1">
                <a:solidFill>
                  <a:srgbClr val="2196F3"/>
                </a:solidFill>
                <a:latin typeface="Calibri"/>
              </a:defRPr>
            </a:pPr>
            <a:r>
              <a:t>PaperVault</a:t>
            </a:r>
          </a:p>
        </p:txBody>
      </p:sp>
      <p:sp>
        <p:nvSpPr>
          <p:cNvPr id="8" name="Rectangle 7"/>
          <p:cNvSpPr/>
          <p:nvPr/>
        </p:nvSpPr>
        <p:spPr>
          <a:xfrm>
            <a:off x="0" y="6656832"/>
            <a:ext cx="12191695" cy="201168"/>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55680" y="6446520"/>
            <a:ext cx="914400" cy="320040"/>
          </a:xfrm>
          <a:prstGeom prst="rect">
            <a:avLst/>
          </a:prstGeom>
          <a:noFill/>
        </p:spPr>
        <p:txBody>
          <a:bodyPr wrap="square">
            <a:spAutoFit/>
          </a:bodyPr>
          <a:lstStyle/>
          <a:p>
            <a:pPr algn="r">
              <a:lnSpc>
                <a:spcPts val="1200"/>
              </a:lnSpc>
              <a:spcAft>
                <a:spcPts val="0"/>
              </a:spcAft>
              <a:defRPr sz="1000" b="0">
                <a:solidFill>
                  <a:srgbClr val="5A5A7A"/>
                </a:solidFill>
                <a:latin typeface="Calibri"/>
              </a:defRPr>
            </a:pPr>
            <a:r>
              <a:t>5 / 8</a:t>
            </a:r>
          </a:p>
        </p:txBody>
      </p:sp>
      <p:sp>
        <p:nvSpPr>
          <p:cNvPr id="10" name="Rounded Rectangle 9"/>
          <p:cNvSpPr/>
          <p:nvPr/>
        </p:nvSpPr>
        <p:spPr>
          <a:xfrm>
            <a:off x="731520" y="1463040"/>
            <a:ext cx="2286000" cy="640080"/>
          </a:xfrm>
          <a:prstGeom prst="round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defRPr sz="1300" b="1">
                <a:solidFill>
                  <a:srgbClr val="FFFFFF"/>
                </a:solidFill>
                <a:latin typeface="Calibri"/>
              </a:defRPr>
            </a:pPr>
            <a:r>
              <a:t>👤  Student / User</a:t>
            </a:r>
          </a:p>
        </p:txBody>
      </p:sp>
      <p:sp>
        <p:nvSpPr>
          <p:cNvPr id="11" name="Down Arrow 10"/>
          <p:cNvSpPr/>
          <p:nvPr/>
        </p:nvSpPr>
        <p:spPr>
          <a:xfrm>
            <a:off x="1714500" y="2103120"/>
            <a:ext cx="320040" cy="320040"/>
          </a:xfrm>
          <a:prstGeom prst="downArrow">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31520" y="2423160"/>
            <a:ext cx="2286000" cy="640080"/>
          </a:xfrm>
          <a:prstGeom prst="round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defRPr sz="1300" b="1">
                <a:solidFill>
                  <a:srgbClr val="FFFFFF"/>
                </a:solidFill>
                <a:latin typeface="Calibri"/>
              </a:defRPr>
            </a:pPr>
            <a:r>
              <a:t>⚛️  React Frontend</a:t>
            </a:r>
          </a:p>
        </p:txBody>
      </p:sp>
      <p:sp>
        <p:nvSpPr>
          <p:cNvPr id="13" name="Down Arrow 12"/>
          <p:cNvSpPr/>
          <p:nvPr/>
        </p:nvSpPr>
        <p:spPr>
          <a:xfrm>
            <a:off x="1714500" y="3063240"/>
            <a:ext cx="320040" cy="320040"/>
          </a:xfrm>
          <a:prstGeom prst="downArrow">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1520" y="3383280"/>
            <a:ext cx="2286000" cy="640080"/>
          </a:xfrm>
          <a:prstGeom prst="round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defRPr sz="1300" b="1">
                <a:solidFill>
                  <a:srgbClr val="FFFFFF"/>
                </a:solidFill>
                <a:latin typeface="Calibri"/>
              </a:defRPr>
            </a:pPr>
            <a:r>
              <a:t>⚡  Netlify Serverless</a:t>
            </a:r>
          </a:p>
        </p:txBody>
      </p:sp>
      <p:sp>
        <p:nvSpPr>
          <p:cNvPr id="15" name="Down Arrow 14"/>
          <p:cNvSpPr/>
          <p:nvPr/>
        </p:nvSpPr>
        <p:spPr>
          <a:xfrm>
            <a:off x="1714500" y="4023360"/>
            <a:ext cx="320040" cy="320040"/>
          </a:xfrm>
          <a:prstGeom prst="downArrow">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31520" y="4343400"/>
            <a:ext cx="2286000" cy="640080"/>
          </a:xfrm>
          <a:prstGeom prst="round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defRPr sz="1300" b="1">
                <a:solidFill>
                  <a:srgbClr val="FFFFFF"/>
                </a:solidFill>
                <a:latin typeface="Calibri"/>
              </a:defRPr>
            </a:pPr>
            <a:r>
              <a:t>🗃️  MongoDB Atlas</a:t>
            </a:r>
          </a:p>
        </p:txBody>
      </p:sp>
      <p:sp>
        <p:nvSpPr>
          <p:cNvPr id="17" name="Down Arrow 16"/>
          <p:cNvSpPr/>
          <p:nvPr/>
        </p:nvSpPr>
        <p:spPr>
          <a:xfrm>
            <a:off x="1714500" y="4983480"/>
            <a:ext cx="320040" cy="320040"/>
          </a:xfrm>
          <a:prstGeom prst="downArrow">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31520" y="5303520"/>
            <a:ext cx="2286000" cy="640080"/>
          </a:xfrm>
          <a:prstGeom prst="round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defRPr sz="1300" b="1">
                <a:solidFill>
                  <a:srgbClr val="FFFFFF"/>
                </a:solidFill>
                <a:latin typeface="Calibri"/>
              </a:defRPr>
            </a:pPr>
            <a:r>
              <a:t>📦  GridFS PDF Storage</a:t>
            </a:r>
          </a:p>
        </p:txBody>
      </p:sp>
      <p:sp>
        <p:nvSpPr>
          <p:cNvPr id="19" name="TextBox 18"/>
          <p:cNvSpPr txBox="1"/>
          <p:nvPr/>
        </p:nvSpPr>
        <p:spPr>
          <a:xfrm>
            <a:off x="731520" y="6126480"/>
            <a:ext cx="2286000" cy="320040"/>
          </a:xfrm>
          <a:prstGeom prst="rect">
            <a:avLst/>
          </a:prstGeom>
          <a:noFill/>
        </p:spPr>
        <p:txBody>
          <a:bodyPr wrap="square">
            <a:spAutoFit/>
          </a:bodyPr>
          <a:lstStyle/>
          <a:p>
            <a:pPr algn="ctr">
              <a:lnSpc>
                <a:spcPts val="1320"/>
              </a:lnSpc>
              <a:spcAft>
                <a:spcPts val="0"/>
              </a:spcAft>
              <a:defRPr sz="1100" b="1">
                <a:solidFill>
                  <a:srgbClr val="2196F3"/>
                </a:solidFill>
                <a:latin typeface="Calibri"/>
              </a:defRPr>
            </a:pPr>
            <a:r>
              <a:t>USER FLOW</a:t>
            </a:r>
          </a:p>
        </p:txBody>
      </p:sp>
      <p:sp>
        <p:nvSpPr>
          <p:cNvPr id="20" name="Right Arrow 19"/>
          <p:cNvSpPr/>
          <p:nvPr/>
        </p:nvSpPr>
        <p:spPr>
          <a:xfrm>
            <a:off x="3108960" y="3566160"/>
            <a:ext cx="2286000" cy="274320"/>
          </a:xfrm>
          <a:prstGeom prst="rightArrow">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91840" y="3246120"/>
            <a:ext cx="2011680" cy="320040"/>
          </a:xfrm>
          <a:prstGeom prst="rect">
            <a:avLst/>
          </a:prstGeom>
          <a:noFill/>
        </p:spPr>
        <p:txBody>
          <a:bodyPr wrap="square">
            <a:spAutoFit/>
          </a:bodyPr>
          <a:lstStyle/>
          <a:p>
            <a:pPr algn="ctr">
              <a:lnSpc>
                <a:spcPts val="1200"/>
              </a:lnSpc>
              <a:spcAft>
                <a:spcPts val="0"/>
              </a:spcAft>
              <a:defRPr sz="1000" b="1">
                <a:solidFill>
                  <a:srgbClr val="FF9800"/>
                </a:solidFill>
                <a:latin typeface="Calibri"/>
              </a:defRPr>
            </a:pPr>
            <a:r>
              <a:t>API Requests</a:t>
            </a:r>
          </a:p>
        </p:txBody>
      </p:sp>
      <p:sp>
        <p:nvSpPr>
          <p:cNvPr id="22" name="Rounded Rectangle 21"/>
          <p:cNvSpPr/>
          <p:nvPr/>
        </p:nvSpPr>
        <p:spPr>
          <a:xfrm>
            <a:off x="5577840" y="1463040"/>
            <a:ext cx="2286000" cy="640080"/>
          </a:xfrm>
          <a:prstGeom prst="round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defRPr sz="1300" b="1">
                <a:solidFill>
                  <a:srgbClr val="FFFFFF"/>
                </a:solidFill>
                <a:latin typeface="Calibri"/>
              </a:defRPr>
            </a:pPr>
            <a:r>
              <a:t>🛡️  Admin Dashboard</a:t>
            </a:r>
          </a:p>
        </p:txBody>
      </p:sp>
      <p:sp>
        <p:nvSpPr>
          <p:cNvPr id="23" name="Down Arrow 22"/>
          <p:cNvSpPr/>
          <p:nvPr/>
        </p:nvSpPr>
        <p:spPr>
          <a:xfrm>
            <a:off x="6560820" y="2103120"/>
            <a:ext cx="320040" cy="320040"/>
          </a:xfrm>
          <a:prstGeom prst="downArrow">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577840" y="2423160"/>
            <a:ext cx="2286000" cy="640080"/>
          </a:xfrm>
          <a:prstGeom prst="round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defRPr sz="1300" b="1">
                <a:solidFill>
                  <a:srgbClr val="FFFFFF"/>
                </a:solidFill>
                <a:latin typeface="Calibri"/>
              </a:defRPr>
            </a:pPr>
            <a:r>
              <a:t>🔐  JWT Authentication</a:t>
            </a:r>
          </a:p>
        </p:txBody>
      </p:sp>
      <p:sp>
        <p:nvSpPr>
          <p:cNvPr id="25" name="Down Arrow 24"/>
          <p:cNvSpPr/>
          <p:nvPr/>
        </p:nvSpPr>
        <p:spPr>
          <a:xfrm>
            <a:off x="6560820" y="3063240"/>
            <a:ext cx="320040" cy="320040"/>
          </a:xfrm>
          <a:prstGeom prst="downArrow">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5577840" y="3383280"/>
            <a:ext cx="2286000" cy="640080"/>
          </a:xfrm>
          <a:prstGeom prst="round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defRPr sz="1300" b="1">
                <a:solidFill>
                  <a:srgbClr val="FFFFFF"/>
                </a:solidFill>
                <a:latin typeface="Calibri"/>
              </a:defRPr>
            </a:pPr>
            <a:r>
              <a:t>🔒  Protected APIs</a:t>
            </a:r>
          </a:p>
        </p:txBody>
      </p:sp>
      <p:sp>
        <p:nvSpPr>
          <p:cNvPr id="27" name="Down Arrow 26"/>
          <p:cNvSpPr/>
          <p:nvPr/>
        </p:nvSpPr>
        <p:spPr>
          <a:xfrm>
            <a:off x="6560820" y="4023360"/>
            <a:ext cx="320040" cy="320040"/>
          </a:xfrm>
          <a:prstGeom prst="downArrow">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5577840" y="4343400"/>
            <a:ext cx="2286000" cy="640080"/>
          </a:xfrm>
          <a:prstGeom prst="round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defRPr sz="1300" b="1">
                <a:solidFill>
                  <a:srgbClr val="FFFFFF"/>
                </a:solidFill>
                <a:latin typeface="Calibri"/>
              </a:defRPr>
            </a:pPr>
            <a:r>
              <a:t>✅  Approve / ❌  Reject</a:t>
            </a:r>
          </a:p>
        </p:txBody>
      </p:sp>
      <p:sp>
        <p:nvSpPr>
          <p:cNvPr id="29" name="TextBox 28"/>
          <p:cNvSpPr txBox="1"/>
          <p:nvPr/>
        </p:nvSpPr>
        <p:spPr>
          <a:xfrm>
            <a:off x="5577840" y="5120640"/>
            <a:ext cx="2286000" cy="320040"/>
          </a:xfrm>
          <a:prstGeom prst="rect">
            <a:avLst/>
          </a:prstGeom>
          <a:noFill/>
        </p:spPr>
        <p:txBody>
          <a:bodyPr wrap="square">
            <a:spAutoFit/>
          </a:bodyPr>
          <a:lstStyle/>
          <a:p>
            <a:pPr algn="ctr">
              <a:lnSpc>
                <a:spcPts val="1320"/>
              </a:lnSpc>
              <a:spcAft>
                <a:spcPts val="0"/>
              </a:spcAft>
              <a:defRPr sz="1100" b="1">
                <a:solidFill>
                  <a:srgbClr val="FF9800"/>
                </a:solidFill>
                <a:latin typeface="Calibri"/>
              </a:defRPr>
            </a:pPr>
            <a:r>
              <a:t>ADMIN FLOW</a:t>
            </a:r>
          </a:p>
        </p:txBody>
      </p:sp>
      <p:sp>
        <p:nvSpPr>
          <p:cNvPr id="30" name="Rounded Rectangle 29"/>
          <p:cNvSpPr/>
          <p:nvPr/>
        </p:nvSpPr>
        <p:spPr>
          <a:xfrm>
            <a:off x="8503920" y="1463040"/>
            <a:ext cx="3291840" cy="4754880"/>
          </a:xfrm>
          <a:prstGeom prst="roundRect">
            <a:avLst/>
          </a:prstGeom>
          <a:solidFill>
            <a:srgbClr val="FFFFFF"/>
          </a:solidFill>
          <a:ln w="1905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86800" y="1600200"/>
            <a:ext cx="2926080" cy="365760"/>
          </a:xfrm>
          <a:prstGeom prst="rect">
            <a:avLst/>
          </a:prstGeom>
          <a:noFill/>
        </p:spPr>
        <p:txBody>
          <a:bodyPr wrap="square">
            <a:spAutoFit/>
          </a:bodyPr>
          <a:lstStyle/>
          <a:p>
            <a:pPr algn="l">
              <a:lnSpc>
                <a:spcPts val="1680"/>
              </a:lnSpc>
              <a:spcAft>
                <a:spcPts val="0"/>
              </a:spcAft>
              <a:defRPr sz="1400" b="1">
                <a:solidFill>
                  <a:srgbClr val="1B4F72"/>
                </a:solidFill>
                <a:latin typeface="Calibri"/>
              </a:defRPr>
            </a:pPr>
            <a:r>
              <a:t>📊  Data Flow Summary</a:t>
            </a:r>
          </a:p>
        </p:txBody>
      </p:sp>
      <p:sp>
        <p:nvSpPr>
          <p:cNvPr id="32" name="Rectangle 31"/>
          <p:cNvSpPr/>
          <p:nvPr/>
        </p:nvSpPr>
        <p:spPr>
          <a:xfrm>
            <a:off x="8686800" y="1965960"/>
            <a:ext cx="2926080" cy="27432"/>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686800" y="2148840"/>
            <a:ext cx="2926080" cy="3840480"/>
          </a:xfrm>
          <a:prstGeom prst="rect">
            <a:avLst/>
          </a:prstGeom>
          <a:noFill/>
        </p:spPr>
        <p:txBody>
          <a:bodyPr wrap="square">
            <a:spAutoFit/>
          </a:bodyPr>
          <a:lstStyle/>
          <a:p>
            <a:pPr algn="l">
              <a:lnSpc>
                <a:spcPts val="1980"/>
              </a:lnSpc>
              <a:spcAft>
                <a:spcPts val="400"/>
              </a:spcAft>
              <a:defRPr sz="1100" b="0">
                <a:solidFill>
                  <a:srgbClr val="1A1A2E"/>
                </a:solidFill>
                <a:latin typeface="Calibri"/>
              </a:defRPr>
            </a:pPr>
            <a:r>
              <a:t>1.  User browses/uploads papers via React UI</a:t>
            </a:r>
          </a:p>
          <a:p>
            <a:pPr algn="l">
              <a:lnSpc>
                <a:spcPts val="1980"/>
              </a:lnSpc>
              <a:spcAft>
                <a:spcPts val="400"/>
              </a:spcAft>
              <a:defRPr sz="1100" b="0">
                <a:solidFill>
                  <a:srgbClr val="1A1A2E"/>
                </a:solidFill>
                <a:latin typeface="Calibri"/>
              </a:defRPr>
            </a:pPr>
            <a:r>
              <a:t>2.  React sends API calls to Netlify Functions</a:t>
            </a:r>
          </a:p>
          <a:p>
            <a:pPr algn="l">
              <a:lnSpc>
                <a:spcPts val="1980"/>
              </a:lnSpc>
              <a:spcAft>
                <a:spcPts val="400"/>
              </a:spcAft>
              <a:defRPr sz="1100" b="0">
                <a:solidFill>
                  <a:srgbClr val="1A1A2E"/>
                </a:solidFill>
                <a:latin typeface="Calibri"/>
              </a:defRPr>
            </a:pPr>
            <a:r>
              <a:t>3.  Functions interact with MongoDB Atlas</a:t>
            </a:r>
          </a:p>
          <a:p>
            <a:pPr algn="l">
              <a:lnSpc>
                <a:spcPts val="1980"/>
              </a:lnSpc>
              <a:spcAft>
                <a:spcPts val="400"/>
              </a:spcAft>
              <a:defRPr sz="1100" b="0">
                <a:solidFill>
                  <a:srgbClr val="1A1A2E"/>
                </a:solidFill>
                <a:latin typeface="Calibri"/>
              </a:defRPr>
            </a:pPr>
            <a:r>
              <a:t>4.  PDFs stored in GridFS buckets</a:t>
            </a:r>
          </a:p>
          <a:p>
            <a:pPr algn="l">
              <a:lnSpc>
                <a:spcPts val="1980"/>
              </a:lnSpc>
              <a:spcAft>
                <a:spcPts val="400"/>
              </a:spcAft>
              <a:defRPr sz="1100" b="0">
                <a:solidFill>
                  <a:srgbClr val="1A1A2E"/>
                </a:solidFill>
                <a:latin typeface="Calibri"/>
              </a:defRPr>
            </a:pPr>
            <a:r>
              <a:t>5.  Admin logs in via JWT Auth</a:t>
            </a:r>
          </a:p>
          <a:p>
            <a:pPr algn="l">
              <a:lnSpc>
                <a:spcPts val="1980"/>
              </a:lnSpc>
              <a:spcAft>
                <a:spcPts val="400"/>
              </a:spcAft>
              <a:defRPr sz="1100" b="0">
                <a:solidFill>
                  <a:srgbClr val="1A1A2E"/>
                </a:solidFill>
                <a:latin typeface="Calibri"/>
              </a:defRPr>
            </a:pPr>
            <a:r>
              <a:t>6.  Admin reviews &amp; approves/rejects via Protected APIs</a:t>
            </a:r>
          </a:p>
          <a:p>
            <a:pPr algn="l">
              <a:lnSpc>
                <a:spcPts val="1980"/>
              </a:lnSpc>
              <a:spcAft>
                <a:spcPts val="400"/>
              </a:spcAft>
              <a:defRPr sz="1100" b="0">
                <a:solidFill>
                  <a:srgbClr val="1A1A2E"/>
                </a:solidFill>
                <a:latin typeface="Calibri"/>
              </a:defRPr>
            </a:pPr>
            <a:r>
              <a:t>7.  Approved papers become visible to all users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54864"/>
            <a:ext cx="12191695" cy="10058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9144000" cy="502920"/>
          </a:xfrm>
          <a:prstGeom prst="rect">
            <a:avLst/>
          </a:prstGeom>
          <a:noFill/>
        </p:spPr>
        <p:txBody>
          <a:bodyPr wrap="square">
            <a:spAutoFit/>
          </a:bodyPr>
          <a:lstStyle/>
          <a:p>
            <a:pPr algn="l">
              <a:lnSpc>
                <a:spcPts val="3360"/>
              </a:lnSpc>
              <a:spcAft>
                <a:spcPts val="0"/>
              </a:spcAft>
              <a:defRPr sz="2800" b="1">
                <a:solidFill>
                  <a:srgbClr val="FFFFFF"/>
                </a:solidFill>
                <a:latin typeface="Calibri"/>
              </a:defRPr>
            </a:pPr>
            <a:r>
              <a:t>Working Flow</a:t>
            </a:r>
          </a:p>
        </p:txBody>
      </p:sp>
      <p:sp>
        <p:nvSpPr>
          <p:cNvPr id="6" name="TextBox 5"/>
          <p:cNvSpPr txBox="1"/>
          <p:nvPr/>
        </p:nvSpPr>
        <p:spPr>
          <a:xfrm>
            <a:off x="548640" y="640080"/>
            <a:ext cx="9144000" cy="365760"/>
          </a:xfrm>
          <a:prstGeom prst="rect">
            <a:avLst/>
          </a:prstGeom>
          <a:noFill/>
        </p:spPr>
        <p:txBody>
          <a:bodyPr wrap="square">
            <a:spAutoFit/>
          </a:bodyPr>
          <a:lstStyle/>
          <a:p>
            <a:pPr algn="l">
              <a:lnSpc>
                <a:spcPts val="1680"/>
              </a:lnSpc>
              <a:spcAft>
                <a:spcPts val="0"/>
              </a:spcAft>
              <a:defRPr sz="1400" b="0">
                <a:solidFill>
                  <a:srgbClr val="BBDEFB"/>
                </a:solidFill>
                <a:latin typeface="Calibri"/>
              </a:defRPr>
            </a:pPr>
            <a:r>
              <a:t>Step-by-step upload and approval workflow</a:t>
            </a:r>
          </a:p>
        </p:txBody>
      </p:sp>
      <p:sp>
        <p:nvSpPr>
          <p:cNvPr id="7" name="TextBox 6"/>
          <p:cNvSpPr txBox="1"/>
          <p:nvPr/>
        </p:nvSpPr>
        <p:spPr>
          <a:xfrm>
            <a:off x="10241280" y="320040"/>
            <a:ext cx="1828800" cy="411480"/>
          </a:xfrm>
          <a:prstGeom prst="rect">
            <a:avLst/>
          </a:prstGeom>
          <a:noFill/>
        </p:spPr>
        <p:txBody>
          <a:bodyPr wrap="square">
            <a:spAutoFit/>
          </a:bodyPr>
          <a:lstStyle/>
          <a:p>
            <a:pPr algn="r">
              <a:lnSpc>
                <a:spcPts val="1920"/>
              </a:lnSpc>
              <a:spcAft>
                <a:spcPts val="0"/>
              </a:spcAft>
              <a:defRPr sz="1600" b="1">
                <a:solidFill>
                  <a:srgbClr val="2196F3"/>
                </a:solidFill>
                <a:latin typeface="Calibri"/>
              </a:defRPr>
            </a:pPr>
            <a:r>
              <a:t>PaperVault</a:t>
            </a:r>
          </a:p>
        </p:txBody>
      </p:sp>
      <p:sp>
        <p:nvSpPr>
          <p:cNvPr id="8" name="Rectangle 7"/>
          <p:cNvSpPr/>
          <p:nvPr/>
        </p:nvSpPr>
        <p:spPr>
          <a:xfrm>
            <a:off x="0" y="6656832"/>
            <a:ext cx="12191695" cy="201168"/>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55680" y="6446520"/>
            <a:ext cx="914400" cy="320040"/>
          </a:xfrm>
          <a:prstGeom prst="rect">
            <a:avLst/>
          </a:prstGeom>
          <a:noFill/>
        </p:spPr>
        <p:txBody>
          <a:bodyPr wrap="square">
            <a:spAutoFit/>
          </a:bodyPr>
          <a:lstStyle/>
          <a:p>
            <a:pPr algn="r">
              <a:lnSpc>
                <a:spcPts val="1200"/>
              </a:lnSpc>
              <a:spcAft>
                <a:spcPts val="0"/>
              </a:spcAft>
              <a:defRPr sz="1000" b="0">
                <a:solidFill>
                  <a:srgbClr val="5A5A7A"/>
                </a:solidFill>
                <a:latin typeface="Calibri"/>
              </a:defRPr>
            </a:pPr>
            <a:r>
              <a:t>6 / 8</a:t>
            </a:r>
          </a:p>
        </p:txBody>
      </p:sp>
      <p:grpSp>
        <p:nvGrpSpPr>
          <p:cNvPr id="60" name="Group 59">
            <a:extLst>
              <a:ext uri="{FF2B5EF4-FFF2-40B4-BE49-F238E27FC236}">
                <a16:creationId xmlns:a16="http://schemas.microsoft.com/office/drawing/2014/main" id="{35E6680A-4ED0-9355-0578-BB11A174E188}"/>
              </a:ext>
            </a:extLst>
          </p:cNvPr>
          <p:cNvGrpSpPr/>
          <p:nvPr/>
        </p:nvGrpSpPr>
        <p:grpSpPr>
          <a:xfrm>
            <a:off x="385419" y="2080260"/>
            <a:ext cx="11475720" cy="1280160"/>
            <a:chOff x="457200" y="2103120"/>
            <a:chExt cx="12847320" cy="1280160"/>
          </a:xfrm>
        </p:grpSpPr>
        <p:sp>
          <p:nvSpPr>
            <p:cNvPr id="10" name="Rounded Rectangle 9"/>
            <p:cNvSpPr/>
            <p:nvPr/>
          </p:nvSpPr>
          <p:spPr>
            <a:xfrm>
              <a:off x="457200" y="2103120"/>
              <a:ext cx="1325880" cy="1280160"/>
            </a:xfrm>
            <a:prstGeom prst="round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212848"/>
              <a:ext cx="1325880" cy="365760"/>
            </a:xfrm>
            <a:prstGeom prst="rect">
              <a:avLst/>
            </a:prstGeom>
            <a:noFill/>
          </p:spPr>
          <p:txBody>
            <a:bodyPr wrap="square">
              <a:spAutoFit/>
            </a:bodyPr>
            <a:lstStyle/>
            <a:p>
              <a:pPr algn="ctr">
                <a:lnSpc>
                  <a:spcPts val="2640"/>
                </a:lnSpc>
                <a:spcAft>
                  <a:spcPts val="0"/>
                </a:spcAft>
                <a:defRPr sz="2200" b="0">
                  <a:solidFill>
                    <a:srgbClr val="FFFFFF"/>
                  </a:solidFill>
                  <a:latin typeface="Segoe UI Emoji"/>
                </a:defRPr>
              </a:pPr>
              <a:r>
                <a:t>📤</a:t>
              </a:r>
            </a:p>
          </p:txBody>
        </p:sp>
        <p:sp>
          <p:nvSpPr>
            <p:cNvPr id="12" name="TextBox 11"/>
            <p:cNvSpPr txBox="1"/>
            <p:nvPr/>
          </p:nvSpPr>
          <p:spPr>
            <a:xfrm>
              <a:off x="457200" y="2578608"/>
              <a:ext cx="1325880" cy="274320"/>
            </a:xfrm>
            <a:prstGeom prst="rect">
              <a:avLst/>
            </a:prstGeom>
            <a:noFill/>
          </p:spPr>
          <p:txBody>
            <a:bodyPr wrap="square">
              <a:spAutoFit/>
            </a:bodyPr>
            <a:lstStyle/>
            <a:p>
              <a:pPr algn="ctr">
                <a:lnSpc>
                  <a:spcPts val="960"/>
                </a:lnSpc>
                <a:spcAft>
                  <a:spcPts val="0"/>
                </a:spcAft>
                <a:defRPr sz="800" b="1">
                  <a:solidFill>
                    <a:srgbClr val="E0E0FF"/>
                  </a:solidFill>
                  <a:latin typeface="Calibri"/>
                </a:defRPr>
              </a:pPr>
              <a:r>
                <a:t>STEP 01</a:t>
              </a:r>
            </a:p>
          </p:txBody>
        </p:sp>
        <p:sp>
          <p:nvSpPr>
            <p:cNvPr id="13" name="TextBox 12"/>
            <p:cNvSpPr txBox="1"/>
            <p:nvPr/>
          </p:nvSpPr>
          <p:spPr>
            <a:xfrm>
              <a:off x="502920" y="2834640"/>
              <a:ext cx="1234440" cy="502920"/>
            </a:xfrm>
            <a:prstGeom prst="rect">
              <a:avLst/>
            </a:prstGeom>
            <a:noFill/>
          </p:spPr>
          <p:txBody>
            <a:bodyPr wrap="square">
              <a:spAutoFit/>
            </a:bodyPr>
            <a:lstStyle/>
            <a:p>
              <a:pPr algn="ctr">
                <a:lnSpc>
                  <a:spcPts val="1200"/>
                </a:lnSpc>
                <a:spcAft>
                  <a:spcPts val="0"/>
                </a:spcAft>
                <a:defRPr sz="1000" b="1">
                  <a:solidFill>
                    <a:srgbClr val="FFFFFF"/>
                  </a:solidFill>
                  <a:latin typeface="Calibri"/>
                </a:defRPr>
              </a:pPr>
              <a:r>
                <a:t>Student</a:t>
              </a:r>
              <a:br/>
              <a:r>
                <a:t>Uploads PDF</a:t>
              </a:r>
            </a:p>
          </p:txBody>
        </p:sp>
        <p:sp>
          <p:nvSpPr>
            <p:cNvPr id="14" name="Right Arrow 13"/>
            <p:cNvSpPr/>
            <p:nvPr/>
          </p:nvSpPr>
          <p:spPr>
            <a:xfrm>
              <a:off x="1801368" y="2606040"/>
              <a:ext cx="557784" cy="274320"/>
            </a:xfrm>
            <a:prstGeom prst="rightArrow">
              <a:avLst/>
            </a:prstGeom>
            <a:solidFill>
              <a:srgbClr val="5A5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377440" y="2103120"/>
              <a:ext cx="1325880" cy="1280160"/>
            </a:xfrm>
            <a:prstGeom prst="round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77440" y="2212848"/>
              <a:ext cx="1325880" cy="365760"/>
            </a:xfrm>
            <a:prstGeom prst="rect">
              <a:avLst/>
            </a:prstGeom>
            <a:noFill/>
          </p:spPr>
          <p:txBody>
            <a:bodyPr wrap="square">
              <a:spAutoFit/>
            </a:bodyPr>
            <a:lstStyle/>
            <a:p>
              <a:pPr algn="ctr">
                <a:lnSpc>
                  <a:spcPts val="2640"/>
                </a:lnSpc>
                <a:spcAft>
                  <a:spcPts val="0"/>
                </a:spcAft>
                <a:defRPr sz="2200" b="0">
                  <a:solidFill>
                    <a:srgbClr val="FFFFFF"/>
                  </a:solidFill>
                  <a:latin typeface="Segoe UI Emoji"/>
                </a:defRPr>
              </a:pPr>
              <a:r>
                <a:t>📦</a:t>
              </a:r>
            </a:p>
          </p:txBody>
        </p:sp>
        <p:sp>
          <p:nvSpPr>
            <p:cNvPr id="17" name="TextBox 16"/>
            <p:cNvSpPr txBox="1"/>
            <p:nvPr/>
          </p:nvSpPr>
          <p:spPr>
            <a:xfrm>
              <a:off x="2377440" y="2578608"/>
              <a:ext cx="1325880" cy="274320"/>
            </a:xfrm>
            <a:prstGeom prst="rect">
              <a:avLst/>
            </a:prstGeom>
            <a:noFill/>
          </p:spPr>
          <p:txBody>
            <a:bodyPr wrap="square">
              <a:spAutoFit/>
            </a:bodyPr>
            <a:lstStyle/>
            <a:p>
              <a:pPr algn="ctr">
                <a:lnSpc>
                  <a:spcPts val="960"/>
                </a:lnSpc>
                <a:spcAft>
                  <a:spcPts val="0"/>
                </a:spcAft>
                <a:defRPr sz="800" b="1">
                  <a:solidFill>
                    <a:srgbClr val="E0E0FF"/>
                  </a:solidFill>
                  <a:latin typeface="Calibri"/>
                </a:defRPr>
              </a:pPr>
              <a:r>
                <a:t>STEP 02</a:t>
              </a:r>
            </a:p>
          </p:txBody>
        </p:sp>
        <p:sp>
          <p:nvSpPr>
            <p:cNvPr id="18" name="TextBox 17"/>
            <p:cNvSpPr txBox="1"/>
            <p:nvPr/>
          </p:nvSpPr>
          <p:spPr>
            <a:xfrm>
              <a:off x="2423160" y="2834640"/>
              <a:ext cx="1234440" cy="502920"/>
            </a:xfrm>
            <a:prstGeom prst="rect">
              <a:avLst/>
            </a:prstGeom>
            <a:noFill/>
          </p:spPr>
          <p:txBody>
            <a:bodyPr wrap="square">
              <a:spAutoFit/>
            </a:bodyPr>
            <a:lstStyle/>
            <a:p>
              <a:pPr algn="ctr">
                <a:lnSpc>
                  <a:spcPts val="1200"/>
                </a:lnSpc>
                <a:spcAft>
                  <a:spcPts val="0"/>
                </a:spcAft>
                <a:defRPr sz="1000" b="1">
                  <a:solidFill>
                    <a:srgbClr val="FFFFFF"/>
                  </a:solidFill>
                  <a:latin typeface="Calibri"/>
                </a:defRPr>
              </a:pPr>
              <a:r>
                <a:t>PDF Stored</a:t>
              </a:r>
              <a:br/>
              <a:r>
                <a:t>in GridFS</a:t>
              </a:r>
            </a:p>
          </p:txBody>
        </p:sp>
        <p:sp>
          <p:nvSpPr>
            <p:cNvPr id="19" name="Right Arrow 18"/>
            <p:cNvSpPr/>
            <p:nvPr/>
          </p:nvSpPr>
          <p:spPr>
            <a:xfrm>
              <a:off x="3721608" y="2606040"/>
              <a:ext cx="557784" cy="274320"/>
            </a:xfrm>
            <a:prstGeom prst="rightArrow">
              <a:avLst/>
            </a:prstGeom>
            <a:solidFill>
              <a:srgbClr val="5A5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297680" y="2103120"/>
              <a:ext cx="1325880" cy="1280160"/>
            </a:xfrm>
            <a:prstGeom prst="roundRect">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297680" y="2212848"/>
              <a:ext cx="1325880" cy="365760"/>
            </a:xfrm>
            <a:prstGeom prst="rect">
              <a:avLst/>
            </a:prstGeom>
            <a:noFill/>
          </p:spPr>
          <p:txBody>
            <a:bodyPr wrap="square">
              <a:spAutoFit/>
            </a:bodyPr>
            <a:lstStyle/>
            <a:p>
              <a:pPr algn="ctr">
                <a:lnSpc>
                  <a:spcPts val="2640"/>
                </a:lnSpc>
                <a:spcAft>
                  <a:spcPts val="0"/>
                </a:spcAft>
                <a:defRPr sz="2200" b="0">
                  <a:solidFill>
                    <a:srgbClr val="FFFFFF"/>
                  </a:solidFill>
                  <a:latin typeface="Segoe UI Emoji"/>
                </a:defRPr>
              </a:pPr>
              <a:r>
                <a:t>🗃️</a:t>
              </a:r>
            </a:p>
          </p:txBody>
        </p:sp>
        <p:sp>
          <p:nvSpPr>
            <p:cNvPr id="22" name="TextBox 21"/>
            <p:cNvSpPr txBox="1"/>
            <p:nvPr/>
          </p:nvSpPr>
          <p:spPr>
            <a:xfrm>
              <a:off x="4297680" y="2578608"/>
              <a:ext cx="1325880" cy="274320"/>
            </a:xfrm>
            <a:prstGeom prst="rect">
              <a:avLst/>
            </a:prstGeom>
            <a:noFill/>
          </p:spPr>
          <p:txBody>
            <a:bodyPr wrap="square">
              <a:spAutoFit/>
            </a:bodyPr>
            <a:lstStyle/>
            <a:p>
              <a:pPr algn="ctr">
                <a:lnSpc>
                  <a:spcPts val="960"/>
                </a:lnSpc>
                <a:spcAft>
                  <a:spcPts val="0"/>
                </a:spcAft>
                <a:defRPr sz="800" b="1">
                  <a:solidFill>
                    <a:srgbClr val="E0E0FF"/>
                  </a:solidFill>
                  <a:latin typeface="Calibri"/>
                </a:defRPr>
              </a:pPr>
              <a:r>
                <a:t>STEP 03</a:t>
              </a:r>
            </a:p>
          </p:txBody>
        </p:sp>
        <p:sp>
          <p:nvSpPr>
            <p:cNvPr id="23" name="TextBox 22"/>
            <p:cNvSpPr txBox="1"/>
            <p:nvPr/>
          </p:nvSpPr>
          <p:spPr>
            <a:xfrm>
              <a:off x="4343400" y="2834640"/>
              <a:ext cx="1234440" cy="502920"/>
            </a:xfrm>
            <a:prstGeom prst="rect">
              <a:avLst/>
            </a:prstGeom>
            <a:noFill/>
          </p:spPr>
          <p:txBody>
            <a:bodyPr wrap="square">
              <a:spAutoFit/>
            </a:bodyPr>
            <a:lstStyle/>
            <a:p>
              <a:pPr algn="ctr">
                <a:lnSpc>
                  <a:spcPts val="1200"/>
                </a:lnSpc>
                <a:spcAft>
                  <a:spcPts val="0"/>
                </a:spcAft>
                <a:defRPr sz="1000" b="1">
                  <a:solidFill>
                    <a:srgbClr val="FFFFFF"/>
                  </a:solidFill>
                  <a:latin typeface="Calibri"/>
                </a:defRPr>
              </a:pPr>
              <a:r>
                <a:t>Metadata Saved</a:t>
              </a:r>
              <a:br/>
              <a:r>
                <a:t>in MongoDB</a:t>
              </a:r>
            </a:p>
          </p:txBody>
        </p:sp>
        <p:sp>
          <p:nvSpPr>
            <p:cNvPr id="24" name="Right Arrow 23"/>
            <p:cNvSpPr/>
            <p:nvPr/>
          </p:nvSpPr>
          <p:spPr>
            <a:xfrm>
              <a:off x="5641848" y="2606040"/>
              <a:ext cx="557784" cy="274320"/>
            </a:xfrm>
            <a:prstGeom prst="rightArrow">
              <a:avLst/>
            </a:prstGeom>
            <a:solidFill>
              <a:srgbClr val="5A5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217920" y="2103120"/>
              <a:ext cx="1325880" cy="1280160"/>
            </a:xfrm>
            <a:prstGeom prst="round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17920" y="2212848"/>
              <a:ext cx="1325880" cy="365760"/>
            </a:xfrm>
            <a:prstGeom prst="rect">
              <a:avLst/>
            </a:prstGeom>
            <a:noFill/>
          </p:spPr>
          <p:txBody>
            <a:bodyPr wrap="square">
              <a:spAutoFit/>
            </a:bodyPr>
            <a:lstStyle/>
            <a:p>
              <a:pPr algn="ctr">
                <a:lnSpc>
                  <a:spcPts val="2640"/>
                </a:lnSpc>
                <a:spcAft>
                  <a:spcPts val="0"/>
                </a:spcAft>
                <a:defRPr sz="2200" b="0">
                  <a:solidFill>
                    <a:srgbClr val="FFFFFF"/>
                  </a:solidFill>
                  <a:latin typeface="Segoe UI Emoji"/>
                </a:defRPr>
              </a:pPr>
              <a:r>
                <a:t>⏳</a:t>
              </a:r>
            </a:p>
          </p:txBody>
        </p:sp>
        <p:sp>
          <p:nvSpPr>
            <p:cNvPr id="27" name="TextBox 26"/>
            <p:cNvSpPr txBox="1"/>
            <p:nvPr/>
          </p:nvSpPr>
          <p:spPr>
            <a:xfrm>
              <a:off x="6217920" y="2578608"/>
              <a:ext cx="1325880" cy="274320"/>
            </a:xfrm>
            <a:prstGeom prst="rect">
              <a:avLst/>
            </a:prstGeom>
            <a:noFill/>
          </p:spPr>
          <p:txBody>
            <a:bodyPr wrap="square">
              <a:spAutoFit/>
            </a:bodyPr>
            <a:lstStyle/>
            <a:p>
              <a:pPr algn="ctr">
                <a:lnSpc>
                  <a:spcPts val="960"/>
                </a:lnSpc>
                <a:spcAft>
                  <a:spcPts val="0"/>
                </a:spcAft>
                <a:defRPr sz="800" b="1">
                  <a:solidFill>
                    <a:srgbClr val="E0E0FF"/>
                  </a:solidFill>
                  <a:latin typeface="Calibri"/>
                </a:defRPr>
              </a:pPr>
              <a:r>
                <a:t>STEP 04</a:t>
              </a:r>
            </a:p>
          </p:txBody>
        </p:sp>
        <p:sp>
          <p:nvSpPr>
            <p:cNvPr id="28" name="TextBox 27"/>
            <p:cNvSpPr txBox="1"/>
            <p:nvPr/>
          </p:nvSpPr>
          <p:spPr>
            <a:xfrm>
              <a:off x="6263640" y="2834640"/>
              <a:ext cx="1234440" cy="502920"/>
            </a:xfrm>
            <a:prstGeom prst="rect">
              <a:avLst/>
            </a:prstGeom>
            <a:noFill/>
          </p:spPr>
          <p:txBody>
            <a:bodyPr wrap="square">
              <a:spAutoFit/>
            </a:bodyPr>
            <a:lstStyle/>
            <a:p>
              <a:pPr algn="ctr">
                <a:lnSpc>
                  <a:spcPts val="1200"/>
                </a:lnSpc>
                <a:spcAft>
                  <a:spcPts val="0"/>
                </a:spcAft>
                <a:defRPr sz="1000" b="1">
                  <a:solidFill>
                    <a:srgbClr val="FFFFFF"/>
                  </a:solidFill>
                  <a:latin typeface="Calibri"/>
                </a:defRPr>
              </a:pPr>
              <a:r>
                <a:t>Status:</a:t>
              </a:r>
              <a:br/>
              <a:r>
                <a:t>Pending</a:t>
              </a:r>
            </a:p>
          </p:txBody>
        </p:sp>
        <p:sp>
          <p:nvSpPr>
            <p:cNvPr id="29" name="Right Arrow 28"/>
            <p:cNvSpPr/>
            <p:nvPr/>
          </p:nvSpPr>
          <p:spPr>
            <a:xfrm>
              <a:off x="7562088" y="2606040"/>
              <a:ext cx="557784" cy="274320"/>
            </a:xfrm>
            <a:prstGeom prst="rightArrow">
              <a:avLst/>
            </a:prstGeom>
            <a:solidFill>
              <a:srgbClr val="5A5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138160" y="2103120"/>
              <a:ext cx="1325880" cy="1280160"/>
            </a:xfrm>
            <a:prstGeom prst="round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138160" y="2212848"/>
              <a:ext cx="1325880" cy="365760"/>
            </a:xfrm>
            <a:prstGeom prst="rect">
              <a:avLst/>
            </a:prstGeom>
            <a:noFill/>
          </p:spPr>
          <p:txBody>
            <a:bodyPr wrap="square">
              <a:spAutoFit/>
            </a:bodyPr>
            <a:lstStyle/>
            <a:p>
              <a:pPr algn="ctr">
                <a:lnSpc>
                  <a:spcPts val="2640"/>
                </a:lnSpc>
                <a:spcAft>
                  <a:spcPts val="0"/>
                </a:spcAft>
                <a:defRPr sz="2200" b="0">
                  <a:solidFill>
                    <a:srgbClr val="FFFFFF"/>
                  </a:solidFill>
                  <a:latin typeface="Segoe UI Emoji"/>
                </a:defRPr>
              </a:pPr>
              <a:r>
                <a:t>👁️</a:t>
              </a:r>
            </a:p>
          </p:txBody>
        </p:sp>
        <p:sp>
          <p:nvSpPr>
            <p:cNvPr id="32" name="TextBox 31"/>
            <p:cNvSpPr txBox="1"/>
            <p:nvPr/>
          </p:nvSpPr>
          <p:spPr>
            <a:xfrm>
              <a:off x="8138160" y="2578608"/>
              <a:ext cx="1325880" cy="274320"/>
            </a:xfrm>
            <a:prstGeom prst="rect">
              <a:avLst/>
            </a:prstGeom>
            <a:noFill/>
          </p:spPr>
          <p:txBody>
            <a:bodyPr wrap="square">
              <a:spAutoFit/>
            </a:bodyPr>
            <a:lstStyle/>
            <a:p>
              <a:pPr algn="ctr">
                <a:lnSpc>
                  <a:spcPts val="960"/>
                </a:lnSpc>
                <a:spcAft>
                  <a:spcPts val="0"/>
                </a:spcAft>
                <a:defRPr sz="800" b="1">
                  <a:solidFill>
                    <a:srgbClr val="E0E0FF"/>
                  </a:solidFill>
                  <a:latin typeface="Calibri"/>
                </a:defRPr>
              </a:pPr>
              <a:r>
                <a:t>STEP 05</a:t>
              </a:r>
            </a:p>
          </p:txBody>
        </p:sp>
        <p:sp>
          <p:nvSpPr>
            <p:cNvPr id="33" name="TextBox 32"/>
            <p:cNvSpPr txBox="1"/>
            <p:nvPr/>
          </p:nvSpPr>
          <p:spPr>
            <a:xfrm>
              <a:off x="8183880" y="2834640"/>
              <a:ext cx="1234440" cy="502920"/>
            </a:xfrm>
            <a:prstGeom prst="rect">
              <a:avLst/>
            </a:prstGeom>
            <a:noFill/>
          </p:spPr>
          <p:txBody>
            <a:bodyPr wrap="square">
              <a:spAutoFit/>
            </a:bodyPr>
            <a:lstStyle/>
            <a:p>
              <a:pPr algn="ctr">
                <a:lnSpc>
                  <a:spcPts val="1200"/>
                </a:lnSpc>
                <a:spcAft>
                  <a:spcPts val="0"/>
                </a:spcAft>
                <a:defRPr sz="1000" b="1">
                  <a:solidFill>
                    <a:srgbClr val="FFFFFF"/>
                  </a:solidFill>
                  <a:latin typeface="Calibri"/>
                </a:defRPr>
              </a:pPr>
              <a:r>
                <a:t>Admin</a:t>
              </a:r>
              <a:br/>
              <a:r>
                <a:t>Reviews</a:t>
              </a:r>
            </a:p>
          </p:txBody>
        </p:sp>
        <p:sp>
          <p:nvSpPr>
            <p:cNvPr id="34" name="Right Arrow 33"/>
            <p:cNvSpPr/>
            <p:nvPr/>
          </p:nvSpPr>
          <p:spPr>
            <a:xfrm>
              <a:off x="9482328" y="2606040"/>
              <a:ext cx="557784" cy="274320"/>
            </a:xfrm>
            <a:prstGeom prst="rightArrow">
              <a:avLst/>
            </a:prstGeom>
            <a:solidFill>
              <a:srgbClr val="5A5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0058400" y="2103120"/>
              <a:ext cx="1325880" cy="1280160"/>
            </a:xfrm>
            <a:prstGeom prst="round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058400" y="2212848"/>
              <a:ext cx="1325880" cy="365760"/>
            </a:xfrm>
            <a:prstGeom prst="rect">
              <a:avLst/>
            </a:prstGeom>
            <a:noFill/>
          </p:spPr>
          <p:txBody>
            <a:bodyPr wrap="square">
              <a:spAutoFit/>
            </a:bodyPr>
            <a:lstStyle/>
            <a:p>
              <a:pPr algn="ctr">
                <a:lnSpc>
                  <a:spcPts val="2640"/>
                </a:lnSpc>
                <a:spcAft>
                  <a:spcPts val="0"/>
                </a:spcAft>
                <a:defRPr sz="2200" b="0">
                  <a:solidFill>
                    <a:srgbClr val="FFFFFF"/>
                  </a:solidFill>
                  <a:latin typeface="Segoe UI Emoji"/>
                </a:defRPr>
              </a:pPr>
              <a:r>
                <a:t>✅</a:t>
              </a:r>
            </a:p>
          </p:txBody>
        </p:sp>
        <p:sp>
          <p:nvSpPr>
            <p:cNvPr id="37" name="TextBox 36"/>
            <p:cNvSpPr txBox="1"/>
            <p:nvPr/>
          </p:nvSpPr>
          <p:spPr>
            <a:xfrm>
              <a:off x="10058400" y="2578608"/>
              <a:ext cx="1325880" cy="274320"/>
            </a:xfrm>
            <a:prstGeom prst="rect">
              <a:avLst/>
            </a:prstGeom>
            <a:noFill/>
          </p:spPr>
          <p:txBody>
            <a:bodyPr wrap="square">
              <a:spAutoFit/>
            </a:bodyPr>
            <a:lstStyle/>
            <a:p>
              <a:pPr algn="ctr">
                <a:lnSpc>
                  <a:spcPts val="960"/>
                </a:lnSpc>
                <a:spcAft>
                  <a:spcPts val="0"/>
                </a:spcAft>
                <a:defRPr sz="800" b="1">
                  <a:solidFill>
                    <a:srgbClr val="E0E0FF"/>
                  </a:solidFill>
                  <a:latin typeface="Calibri"/>
                </a:defRPr>
              </a:pPr>
              <a:r>
                <a:t>STEP 06</a:t>
              </a:r>
            </a:p>
          </p:txBody>
        </p:sp>
        <p:sp>
          <p:nvSpPr>
            <p:cNvPr id="38" name="TextBox 37"/>
            <p:cNvSpPr txBox="1"/>
            <p:nvPr/>
          </p:nvSpPr>
          <p:spPr>
            <a:xfrm>
              <a:off x="10104120" y="2834640"/>
              <a:ext cx="1234440" cy="502920"/>
            </a:xfrm>
            <a:prstGeom prst="rect">
              <a:avLst/>
            </a:prstGeom>
            <a:noFill/>
          </p:spPr>
          <p:txBody>
            <a:bodyPr wrap="square">
              <a:spAutoFit/>
            </a:bodyPr>
            <a:lstStyle/>
            <a:p>
              <a:pPr algn="ctr">
                <a:lnSpc>
                  <a:spcPts val="1200"/>
                </a:lnSpc>
                <a:spcAft>
                  <a:spcPts val="0"/>
                </a:spcAft>
                <a:defRPr sz="1000" b="1">
                  <a:solidFill>
                    <a:srgbClr val="FFFFFF"/>
                  </a:solidFill>
                  <a:latin typeface="Calibri"/>
                </a:defRPr>
              </a:pPr>
              <a:r>
                <a:t>Approve /</a:t>
              </a:r>
              <a:br/>
              <a:r>
                <a:t>Reject</a:t>
              </a:r>
            </a:p>
          </p:txBody>
        </p:sp>
        <p:sp>
          <p:nvSpPr>
            <p:cNvPr id="39" name="Right Arrow 38"/>
            <p:cNvSpPr/>
            <p:nvPr/>
          </p:nvSpPr>
          <p:spPr>
            <a:xfrm>
              <a:off x="11402568" y="2606040"/>
              <a:ext cx="557784" cy="274320"/>
            </a:xfrm>
            <a:prstGeom prst="rightArrow">
              <a:avLst/>
            </a:prstGeom>
            <a:solidFill>
              <a:srgbClr val="5A5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1978640" y="2103120"/>
              <a:ext cx="1325880" cy="1280160"/>
            </a:xfrm>
            <a:prstGeom prst="round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1978640" y="2212848"/>
              <a:ext cx="1325880" cy="365760"/>
            </a:xfrm>
            <a:prstGeom prst="rect">
              <a:avLst/>
            </a:prstGeom>
            <a:noFill/>
          </p:spPr>
          <p:txBody>
            <a:bodyPr wrap="square">
              <a:spAutoFit/>
            </a:bodyPr>
            <a:lstStyle/>
            <a:p>
              <a:pPr algn="ctr">
                <a:lnSpc>
                  <a:spcPts val="2640"/>
                </a:lnSpc>
                <a:spcAft>
                  <a:spcPts val="0"/>
                </a:spcAft>
                <a:defRPr sz="2200" b="0">
                  <a:solidFill>
                    <a:srgbClr val="FFFFFF"/>
                  </a:solidFill>
                  <a:latin typeface="Segoe UI Emoji"/>
                </a:defRPr>
              </a:pPr>
              <a:r>
                <a:t>🌐</a:t>
              </a:r>
            </a:p>
          </p:txBody>
        </p:sp>
        <p:sp>
          <p:nvSpPr>
            <p:cNvPr id="42" name="TextBox 41"/>
            <p:cNvSpPr txBox="1"/>
            <p:nvPr/>
          </p:nvSpPr>
          <p:spPr>
            <a:xfrm>
              <a:off x="11978640" y="2578608"/>
              <a:ext cx="1325880" cy="274320"/>
            </a:xfrm>
            <a:prstGeom prst="rect">
              <a:avLst/>
            </a:prstGeom>
            <a:noFill/>
          </p:spPr>
          <p:txBody>
            <a:bodyPr wrap="square">
              <a:spAutoFit/>
            </a:bodyPr>
            <a:lstStyle/>
            <a:p>
              <a:pPr algn="ctr">
                <a:lnSpc>
                  <a:spcPts val="960"/>
                </a:lnSpc>
                <a:spcAft>
                  <a:spcPts val="0"/>
                </a:spcAft>
                <a:defRPr sz="800" b="1">
                  <a:solidFill>
                    <a:srgbClr val="E0E0FF"/>
                  </a:solidFill>
                  <a:latin typeface="Calibri"/>
                </a:defRPr>
              </a:pPr>
              <a:r>
                <a:t>STEP 07</a:t>
              </a:r>
            </a:p>
          </p:txBody>
        </p:sp>
        <p:sp>
          <p:nvSpPr>
            <p:cNvPr id="43" name="TextBox 42"/>
            <p:cNvSpPr txBox="1"/>
            <p:nvPr/>
          </p:nvSpPr>
          <p:spPr>
            <a:xfrm>
              <a:off x="12024360" y="2834640"/>
              <a:ext cx="1234440" cy="502920"/>
            </a:xfrm>
            <a:prstGeom prst="rect">
              <a:avLst/>
            </a:prstGeom>
            <a:noFill/>
          </p:spPr>
          <p:txBody>
            <a:bodyPr wrap="square">
              <a:spAutoFit/>
            </a:bodyPr>
            <a:lstStyle/>
            <a:p>
              <a:pPr algn="ctr">
                <a:lnSpc>
                  <a:spcPts val="1200"/>
                </a:lnSpc>
                <a:spcAft>
                  <a:spcPts val="0"/>
                </a:spcAft>
                <a:defRPr sz="1000" b="1">
                  <a:solidFill>
                    <a:srgbClr val="FFFFFF"/>
                  </a:solidFill>
                  <a:latin typeface="Calibri"/>
                </a:defRPr>
              </a:pPr>
              <a:r>
                <a:t>Approved Papers</a:t>
              </a:r>
              <a:br/>
              <a:r>
                <a:t>Visible to All</a:t>
              </a:r>
            </a:p>
          </p:txBody>
        </p:sp>
      </p:grpSp>
      <p:sp>
        <p:nvSpPr>
          <p:cNvPr id="44" name="Rounded Rectangle 43"/>
          <p:cNvSpPr/>
          <p:nvPr/>
        </p:nvSpPr>
        <p:spPr>
          <a:xfrm>
            <a:off x="457200" y="3840480"/>
            <a:ext cx="2697480" cy="2377440"/>
          </a:xfrm>
          <a:prstGeom prst="roundRect">
            <a:avLst/>
          </a:prstGeom>
          <a:solidFill>
            <a:srgbClr val="FFFFFF"/>
          </a:solidFill>
          <a:ln w="1905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548640" y="3895344"/>
            <a:ext cx="2514600" cy="45720"/>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94360" y="4023360"/>
            <a:ext cx="2423160" cy="320040"/>
          </a:xfrm>
          <a:prstGeom prst="rect">
            <a:avLst/>
          </a:prstGeom>
          <a:noFill/>
        </p:spPr>
        <p:txBody>
          <a:bodyPr wrap="square">
            <a:spAutoFit/>
          </a:bodyPr>
          <a:lstStyle/>
          <a:p>
            <a:pPr algn="l">
              <a:lnSpc>
                <a:spcPts val="1560"/>
              </a:lnSpc>
              <a:spcAft>
                <a:spcPts val="0"/>
              </a:spcAft>
              <a:defRPr sz="1300" b="1">
                <a:solidFill>
                  <a:srgbClr val="2196F3"/>
                </a:solidFill>
                <a:latin typeface="Calibri"/>
              </a:defRPr>
            </a:pPr>
            <a:r>
              <a:t>Upload Phase</a:t>
            </a:r>
          </a:p>
        </p:txBody>
      </p:sp>
      <p:sp>
        <p:nvSpPr>
          <p:cNvPr id="47" name="TextBox 46"/>
          <p:cNvSpPr txBox="1"/>
          <p:nvPr/>
        </p:nvSpPr>
        <p:spPr>
          <a:xfrm>
            <a:off x="594360" y="4389120"/>
            <a:ext cx="2423160" cy="1645920"/>
          </a:xfrm>
          <a:prstGeom prst="rect">
            <a:avLst/>
          </a:prstGeom>
          <a:noFill/>
        </p:spPr>
        <p:txBody>
          <a:bodyPr wrap="square">
            <a:spAutoFit/>
          </a:bodyPr>
          <a:lstStyle/>
          <a:p>
            <a:pPr algn="l">
              <a:lnSpc>
                <a:spcPts val="1650"/>
              </a:lnSpc>
              <a:spcAft>
                <a:spcPts val="0"/>
              </a:spcAft>
              <a:defRPr sz="1100" b="0">
                <a:solidFill>
                  <a:srgbClr val="5A5A7A"/>
                </a:solidFill>
                <a:latin typeface="Calibri"/>
              </a:defRPr>
            </a:pPr>
            <a:r>
              <a:t>Student fills in paper details (subject, year, exam type) and uploads PDF file through the React interface.</a:t>
            </a:r>
          </a:p>
        </p:txBody>
      </p:sp>
      <p:sp>
        <p:nvSpPr>
          <p:cNvPr id="48" name="Rounded Rectangle 47"/>
          <p:cNvSpPr/>
          <p:nvPr/>
        </p:nvSpPr>
        <p:spPr>
          <a:xfrm>
            <a:off x="3337560" y="3840480"/>
            <a:ext cx="2697480" cy="2377440"/>
          </a:xfrm>
          <a:prstGeom prst="roundRect">
            <a:avLst/>
          </a:prstGeom>
          <a:solidFill>
            <a:srgbClr val="FFFFFF"/>
          </a:solidFill>
          <a:ln w="1905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3429000" y="3895344"/>
            <a:ext cx="2514600" cy="45720"/>
          </a:xfrm>
          <a:prstGeom prst="rect">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474720" y="4023360"/>
            <a:ext cx="2423160" cy="320040"/>
          </a:xfrm>
          <a:prstGeom prst="rect">
            <a:avLst/>
          </a:prstGeom>
          <a:noFill/>
        </p:spPr>
        <p:txBody>
          <a:bodyPr wrap="square">
            <a:spAutoFit/>
          </a:bodyPr>
          <a:lstStyle/>
          <a:p>
            <a:pPr algn="l">
              <a:lnSpc>
                <a:spcPts val="1560"/>
              </a:lnSpc>
              <a:spcAft>
                <a:spcPts val="0"/>
              </a:spcAft>
              <a:defRPr sz="1300" b="1">
                <a:solidFill>
                  <a:srgbClr val="009688"/>
                </a:solidFill>
                <a:latin typeface="Calibri"/>
              </a:defRPr>
            </a:pPr>
            <a:r>
              <a:t>Storage Phase</a:t>
            </a:r>
          </a:p>
        </p:txBody>
      </p:sp>
      <p:sp>
        <p:nvSpPr>
          <p:cNvPr id="51" name="TextBox 50"/>
          <p:cNvSpPr txBox="1"/>
          <p:nvPr/>
        </p:nvSpPr>
        <p:spPr>
          <a:xfrm>
            <a:off x="3474720" y="4389120"/>
            <a:ext cx="2423160" cy="1645920"/>
          </a:xfrm>
          <a:prstGeom prst="rect">
            <a:avLst/>
          </a:prstGeom>
          <a:noFill/>
        </p:spPr>
        <p:txBody>
          <a:bodyPr wrap="square">
            <a:spAutoFit/>
          </a:bodyPr>
          <a:lstStyle/>
          <a:p>
            <a:pPr algn="l">
              <a:lnSpc>
                <a:spcPts val="1650"/>
              </a:lnSpc>
              <a:spcAft>
                <a:spcPts val="0"/>
              </a:spcAft>
              <a:defRPr sz="1100" b="0">
                <a:solidFill>
                  <a:srgbClr val="5A5A7A"/>
                </a:solidFill>
                <a:latin typeface="Calibri"/>
              </a:defRPr>
            </a:pPr>
            <a:r>
              <a:t>The PDF is stored in GridFS (MongoDB's file storage) while metadata is saved in a MongoDB collection with status 'Pending'.</a:t>
            </a:r>
          </a:p>
        </p:txBody>
      </p:sp>
      <p:sp>
        <p:nvSpPr>
          <p:cNvPr id="52" name="Rounded Rectangle 51"/>
          <p:cNvSpPr/>
          <p:nvPr/>
        </p:nvSpPr>
        <p:spPr>
          <a:xfrm>
            <a:off x="6217920" y="3840480"/>
            <a:ext cx="2697480" cy="2377440"/>
          </a:xfrm>
          <a:prstGeom prst="roundRect">
            <a:avLst/>
          </a:prstGeom>
          <a:solidFill>
            <a:srgbClr val="FFFFFF"/>
          </a:solidFill>
          <a:ln w="1905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309360" y="3895344"/>
            <a:ext cx="2514600" cy="45720"/>
          </a:xfrm>
          <a:prstGeom prst="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355080" y="4023360"/>
            <a:ext cx="2423160" cy="320040"/>
          </a:xfrm>
          <a:prstGeom prst="rect">
            <a:avLst/>
          </a:prstGeom>
          <a:noFill/>
        </p:spPr>
        <p:txBody>
          <a:bodyPr wrap="square">
            <a:spAutoFit/>
          </a:bodyPr>
          <a:lstStyle/>
          <a:p>
            <a:pPr algn="l">
              <a:lnSpc>
                <a:spcPts val="1560"/>
              </a:lnSpc>
              <a:spcAft>
                <a:spcPts val="0"/>
              </a:spcAft>
              <a:defRPr sz="1300" b="1">
                <a:solidFill>
                  <a:srgbClr val="FF9800"/>
                </a:solidFill>
                <a:latin typeface="Calibri"/>
              </a:defRPr>
            </a:pPr>
            <a:r>
              <a:t>Review Phase</a:t>
            </a:r>
          </a:p>
        </p:txBody>
      </p:sp>
      <p:sp>
        <p:nvSpPr>
          <p:cNvPr id="55" name="TextBox 54"/>
          <p:cNvSpPr txBox="1"/>
          <p:nvPr/>
        </p:nvSpPr>
        <p:spPr>
          <a:xfrm>
            <a:off x="6355080" y="4389120"/>
            <a:ext cx="2423160" cy="1645920"/>
          </a:xfrm>
          <a:prstGeom prst="rect">
            <a:avLst/>
          </a:prstGeom>
          <a:noFill/>
        </p:spPr>
        <p:txBody>
          <a:bodyPr wrap="square">
            <a:spAutoFit/>
          </a:bodyPr>
          <a:lstStyle/>
          <a:p>
            <a:pPr algn="l">
              <a:lnSpc>
                <a:spcPts val="1650"/>
              </a:lnSpc>
              <a:spcAft>
                <a:spcPts val="0"/>
              </a:spcAft>
              <a:defRPr sz="1100" b="0">
                <a:solidFill>
                  <a:srgbClr val="5A5A7A"/>
                </a:solidFill>
                <a:latin typeface="Calibri"/>
              </a:defRPr>
            </a:pPr>
            <a:r>
              <a:t>Admin logs into the dashboard, reviews pending submissions, previews the PDF, and approves or rejects each paper.</a:t>
            </a:r>
          </a:p>
        </p:txBody>
      </p:sp>
      <p:sp>
        <p:nvSpPr>
          <p:cNvPr id="56" name="Rounded Rectangle 55"/>
          <p:cNvSpPr/>
          <p:nvPr/>
        </p:nvSpPr>
        <p:spPr>
          <a:xfrm>
            <a:off x="9098280" y="3840480"/>
            <a:ext cx="2697480" cy="2377440"/>
          </a:xfrm>
          <a:prstGeom prst="roundRect">
            <a:avLst/>
          </a:prstGeom>
          <a:solidFill>
            <a:srgbClr val="FFFFFF"/>
          </a:solidFill>
          <a:ln w="1905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9189720" y="3895344"/>
            <a:ext cx="2514600" cy="45720"/>
          </a:xfrm>
          <a:prstGeom prst="rect">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235440" y="4023360"/>
            <a:ext cx="2423160" cy="320040"/>
          </a:xfrm>
          <a:prstGeom prst="rect">
            <a:avLst/>
          </a:prstGeom>
          <a:noFill/>
        </p:spPr>
        <p:txBody>
          <a:bodyPr wrap="square">
            <a:spAutoFit/>
          </a:bodyPr>
          <a:lstStyle/>
          <a:p>
            <a:pPr algn="l">
              <a:lnSpc>
                <a:spcPts val="1560"/>
              </a:lnSpc>
              <a:spcAft>
                <a:spcPts val="0"/>
              </a:spcAft>
              <a:defRPr sz="1300" b="1">
                <a:solidFill>
                  <a:srgbClr val="7B1FA2"/>
                </a:solidFill>
                <a:latin typeface="Calibri"/>
              </a:defRPr>
            </a:pPr>
            <a:r>
              <a:t>Access Phase</a:t>
            </a:r>
          </a:p>
        </p:txBody>
      </p:sp>
      <p:sp>
        <p:nvSpPr>
          <p:cNvPr id="59" name="TextBox 58"/>
          <p:cNvSpPr txBox="1"/>
          <p:nvPr/>
        </p:nvSpPr>
        <p:spPr>
          <a:xfrm>
            <a:off x="9235440" y="4389120"/>
            <a:ext cx="2423160" cy="1645920"/>
          </a:xfrm>
          <a:prstGeom prst="rect">
            <a:avLst/>
          </a:prstGeom>
          <a:noFill/>
        </p:spPr>
        <p:txBody>
          <a:bodyPr wrap="square">
            <a:spAutoFit/>
          </a:bodyPr>
          <a:lstStyle/>
          <a:p>
            <a:pPr algn="l">
              <a:lnSpc>
                <a:spcPts val="1650"/>
              </a:lnSpc>
              <a:spcAft>
                <a:spcPts val="0"/>
              </a:spcAft>
              <a:defRPr sz="1100" b="0">
                <a:solidFill>
                  <a:srgbClr val="5A5A7A"/>
                </a:solidFill>
                <a:latin typeface="Calibri"/>
              </a:defRPr>
            </a:pPr>
            <a:r>
              <a:t>Approved papers appear in search results and are accessible to all students for download.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54864" cy="6858000"/>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4864" y="54864"/>
            <a:ext cx="12191695" cy="1005840"/>
          </a:xfrm>
          <a:prstGeom prst="rect">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64592"/>
            <a:ext cx="9144000" cy="502920"/>
          </a:xfrm>
          <a:prstGeom prst="rect">
            <a:avLst/>
          </a:prstGeom>
          <a:noFill/>
        </p:spPr>
        <p:txBody>
          <a:bodyPr wrap="square">
            <a:spAutoFit/>
          </a:bodyPr>
          <a:lstStyle/>
          <a:p>
            <a:pPr algn="l">
              <a:lnSpc>
                <a:spcPts val="3360"/>
              </a:lnSpc>
              <a:spcAft>
                <a:spcPts val="0"/>
              </a:spcAft>
              <a:defRPr sz="2800" b="1">
                <a:solidFill>
                  <a:srgbClr val="FFFFFF"/>
                </a:solidFill>
                <a:latin typeface="Calibri"/>
              </a:defRPr>
            </a:pPr>
            <a:r>
              <a:t>Key Features &amp; Challenges</a:t>
            </a:r>
          </a:p>
        </p:txBody>
      </p:sp>
      <p:sp>
        <p:nvSpPr>
          <p:cNvPr id="6" name="TextBox 5"/>
          <p:cNvSpPr txBox="1"/>
          <p:nvPr/>
        </p:nvSpPr>
        <p:spPr>
          <a:xfrm>
            <a:off x="548640" y="640080"/>
            <a:ext cx="9144000" cy="365760"/>
          </a:xfrm>
          <a:prstGeom prst="rect">
            <a:avLst/>
          </a:prstGeom>
          <a:noFill/>
        </p:spPr>
        <p:txBody>
          <a:bodyPr wrap="square">
            <a:spAutoFit/>
          </a:bodyPr>
          <a:lstStyle/>
          <a:p>
            <a:pPr algn="l">
              <a:lnSpc>
                <a:spcPts val="1680"/>
              </a:lnSpc>
              <a:spcAft>
                <a:spcPts val="0"/>
              </a:spcAft>
              <a:defRPr sz="1400" b="0">
                <a:solidFill>
                  <a:srgbClr val="BBDEFB"/>
                </a:solidFill>
                <a:latin typeface="Calibri"/>
              </a:defRPr>
            </a:pPr>
            <a:r>
              <a:t>Features implemented and challenges overcome</a:t>
            </a:r>
          </a:p>
        </p:txBody>
      </p:sp>
      <p:sp>
        <p:nvSpPr>
          <p:cNvPr id="7" name="TextBox 6"/>
          <p:cNvSpPr txBox="1"/>
          <p:nvPr/>
        </p:nvSpPr>
        <p:spPr>
          <a:xfrm>
            <a:off x="10241280" y="320040"/>
            <a:ext cx="1828800" cy="411480"/>
          </a:xfrm>
          <a:prstGeom prst="rect">
            <a:avLst/>
          </a:prstGeom>
          <a:noFill/>
        </p:spPr>
        <p:txBody>
          <a:bodyPr wrap="square">
            <a:spAutoFit/>
          </a:bodyPr>
          <a:lstStyle/>
          <a:p>
            <a:pPr algn="r">
              <a:lnSpc>
                <a:spcPts val="1920"/>
              </a:lnSpc>
              <a:spcAft>
                <a:spcPts val="0"/>
              </a:spcAft>
              <a:defRPr sz="1600" b="1">
                <a:solidFill>
                  <a:srgbClr val="2196F3"/>
                </a:solidFill>
                <a:latin typeface="Calibri"/>
              </a:defRPr>
            </a:pPr>
            <a:r>
              <a:t>PaperVault</a:t>
            </a:r>
          </a:p>
        </p:txBody>
      </p:sp>
      <p:sp>
        <p:nvSpPr>
          <p:cNvPr id="8" name="Rectangle 7"/>
          <p:cNvSpPr/>
          <p:nvPr/>
        </p:nvSpPr>
        <p:spPr>
          <a:xfrm>
            <a:off x="0" y="6656832"/>
            <a:ext cx="12191695" cy="201168"/>
          </a:xfrm>
          <a:prstGeom prst="rect">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55680" y="6446520"/>
            <a:ext cx="914400" cy="320040"/>
          </a:xfrm>
          <a:prstGeom prst="rect">
            <a:avLst/>
          </a:prstGeom>
          <a:noFill/>
        </p:spPr>
        <p:txBody>
          <a:bodyPr wrap="square">
            <a:spAutoFit/>
          </a:bodyPr>
          <a:lstStyle/>
          <a:p>
            <a:pPr algn="r">
              <a:lnSpc>
                <a:spcPts val="1200"/>
              </a:lnSpc>
              <a:spcAft>
                <a:spcPts val="0"/>
              </a:spcAft>
              <a:defRPr sz="1000" b="0">
                <a:solidFill>
                  <a:srgbClr val="5A5A7A"/>
                </a:solidFill>
                <a:latin typeface="Calibri"/>
              </a:defRPr>
            </a:pPr>
            <a:r>
              <a:t>7 / 8</a:t>
            </a:r>
          </a:p>
        </p:txBody>
      </p:sp>
      <p:sp>
        <p:nvSpPr>
          <p:cNvPr id="10" name="Rounded Rectangle 9"/>
          <p:cNvSpPr/>
          <p:nvPr/>
        </p:nvSpPr>
        <p:spPr>
          <a:xfrm>
            <a:off x="457200" y="1371600"/>
            <a:ext cx="5486400" cy="548640"/>
          </a:xfrm>
          <a:prstGeom prst="round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defRPr sz="1400" b="1">
                <a:solidFill>
                  <a:srgbClr val="FFFFFF"/>
                </a:solidFill>
                <a:latin typeface="Calibri"/>
              </a:defRPr>
            </a:pPr>
            <a:r>
              <a:t>✨  KEY FEATURES</a:t>
            </a:r>
          </a:p>
        </p:txBody>
      </p:sp>
      <p:sp>
        <p:nvSpPr>
          <p:cNvPr id="11" name="Rounded Rectangle 10"/>
          <p:cNvSpPr/>
          <p:nvPr/>
        </p:nvSpPr>
        <p:spPr>
          <a:xfrm>
            <a:off x="457200" y="2103120"/>
            <a:ext cx="5486400" cy="621792"/>
          </a:xfrm>
          <a:prstGeom prst="roundRect">
            <a:avLst/>
          </a:prstGeom>
          <a:solidFill>
            <a:srgbClr val="FFFFFF"/>
          </a:solidFill>
          <a:ln w="1270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594360" y="2185416"/>
            <a:ext cx="457200" cy="457200"/>
          </a:xfrm>
          <a:prstGeom prst="ellipse">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1600" b="1">
                <a:solidFill>
                  <a:srgbClr val="FFFFFF"/>
                </a:solidFill>
                <a:latin typeface="Segoe UI Emoji"/>
              </a:defRPr>
            </a:pPr>
            <a:r>
              <a:t>📤</a:t>
            </a:r>
          </a:p>
        </p:txBody>
      </p:sp>
      <p:sp>
        <p:nvSpPr>
          <p:cNvPr id="13" name="TextBox 12"/>
          <p:cNvSpPr txBox="1"/>
          <p:nvPr/>
        </p:nvSpPr>
        <p:spPr>
          <a:xfrm>
            <a:off x="1188720" y="2157984"/>
            <a:ext cx="2011680" cy="274320"/>
          </a:xfrm>
          <a:prstGeom prst="rect">
            <a:avLst/>
          </a:prstGeom>
          <a:noFill/>
        </p:spPr>
        <p:txBody>
          <a:bodyPr wrap="square">
            <a:spAutoFit/>
          </a:bodyPr>
          <a:lstStyle/>
          <a:p>
            <a:pPr algn="l">
              <a:lnSpc>
                <a:spcPts val="1439"/>
              </a:lnSpc>
              <a:spcAft>
                <a:spcPts val="0"/>
              </a:spcAft>
              <a:defRPr sz="1200" b="1">
                <a:solidFill>
                  <a:srgbClr val="1B4F72"/>
                </a:solidFill>
                <a:latin typeface="Calibri"/>
              </a:defRPr>
            </a:pPr>
            <a:r>
              <a:t>PDF Upload</a:t>
            </a:r>
          </a:p>
        </p:txBody>
      </p:sp>
      <p:sp>
        <p:nvSpPr>
          <p:cNvPr id="14" name="TextBox 13"/>
          <p:cNvSpPr txBox="1"/>
          <p:nvPr/>
        </p:nvSpPr>
        <p:spPr>
          <a:xfrm>
            <a:off x="1188720" y="2423160"/>
            <a:ext cx="4389120" cy="274320"/>
          </a:xfrm>
          <a:prstGeom prst="rect">
            <a:avLst/>
          </a:prstGeom>
          <a:noFill/>
        </p:spPr>
        <p:txBody>
          <a:bodyPr wrap="square">
            <a:spAutoFit/>
          </a:bodyPr>
          <a:lstStyle/>
          <a:p>
            <a:pPr algn="l">
              <a:lnSpc>
                <a:spcPts val="1200"/>
              </a:lnSpc>
              <a:spcAft>
                <a:spcPts val="0"/>
              </a:spcAft>
              <a:defRPr sz="1000" b="0">
                <a:solidFill>
                  <a:srgbClr val="5A5A7A"/>
                </a:solidFill>
                <a:latin typeface="Calibri"/>
              </a:defRPr>
            </a:pPr>
            <a:r>
              <a:t>Upload question papers with metadata</a:t>
            </a:r>
          </a:p>
        </p:txBody>
      </p:sp>
      <p:sp>
        <p:nvSpPr>
          <p:cNvPr id="15" name="Rounded Rectangle 14"/>
          <p:cNvSpPr/>
          <p:nvPr/>
        </p:nvSpPr>
        <p:spPr>
          <a:xfrm>
            <a:off x="457200" y="2816352"/>
            <a:ext cx="5486400" cy="621792"/>
          </a:xfrm>
          <a:prstGeom prst="roundRect">
            <a:avLst/>
          </a:prstGeom>
          <a:solidFill>
            <a:srgbClr val="FFFFFF"/>
          </a:solidFill>
          <a:ln w="1270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94360" y="2898648"/>
            <a:ext cx="457200" cy="457200"/>
          </a:xfrm>
          <a:prstGeom prst="ellipse">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1600" b="1">
                <a:solidFill>
                  <a:srgbClr val="FFFFFF"/>
                </a:solidFill>
                <a:latin typeface="Segoe UI Emoji"/>
              </a:defRPr>
            </a:pPr>
            <a:r>
              <a:t>🔍</a:t>
            </a:r>
          </a:p>
        </p:txBody>
      </p:sp>
      <p:sp>
        <p:nvSpPr>
          <p:cNvPr id="17" name="TextBox 16"/>
          <p:cNvSpPr txBox="1"/>
          <p:nvPr/>
        </p:nvSpPr>
        <p:spPr>
          <a:xfrm>
            <a:off x="1188720" y="2871216"/>
            <a:ext cx="2011680" cy="274320"/>
          </a:xfrm>
          <a:prstGeom prst="rect">
            <a:avLst/>
          </a:prstGeom>
          <a:noFill/>
        </p:spPr>
        <p:txBody>
          <a:bodyPr wrap="square">
            <a:spAutoFit/>
          </a:bodyPr>
          <a:lstStyle/>
          <a:p>
            <a:pPr algn="l">
              <a:lnSpc>
                <a:spcPts val="1439"/>
              </a:lnSpc>
              <a:spcAft>
                <a:spcPts val="0"/>
              </a:spcAft>
              <a:defRPr sz="1200" b="1">
                <a:solidFill>
                  <a:srgbClr val="1B4F72"/>
                </a:solidFill>
                <a:latin typeface="Calibri"/>
              </a:defRPr>
            </a:pPr>
            <a:r>
              <a:t>Search &amp; Filters</a:t>
            </a:r>
          </a:p>
        </p:txBody>
      </p:sp>
      <p:sp>
        <p:nvSpPr>
          <p:cNvPr id="18" name="TextBox 17"/>
          <p:cNvSpPr txBox="1"/>
          <p:nvPr/>
        </p:nvSpPr>
        <p:spPr>
          <a:xfrm>
            <a:off x="1188720" y="3136392"/>
            <a:ext cx="4389120" cy="274320"/>
          </a:xfrm>
          <a:prstGeom prst="rect">
            <a:avLst/>
          </a:prstGeom>
          <a:noFill/>
        </p:spPr>
        <p:txBody>
          <a:bodyPr wrap="square">
            <a:spAutoFit/>
          </a:bodyPr>
          <a:lstStyle/>
          <a:p>
            <a:pPr algn="l">
              <a:lnSpc>
                <a:spcPts val="1200"/>
              </a:lnSpc>
              <a:spcAft>
                <a:spcPts val="0"/>
              </a:spcAft>
              <a:defRPr sz="1000" b="0">
                <a:solidFill>
                  <a:srgbClr val="5A5A7A"/>
                </a:solidFill>
                <a:latin typeface="Calibri"/>
              </a:defRPr>
            </a:pPr>
            <a:r>
              <a:t>Find papers by subject, year, type</a:t>
            </a:r>
          </a:p>
        </p:txBody>
      </p:sp>
      <p:sp>
        <p:nvSpPr>
          <p:cNvPr id="19" name="Rounded Rectangle 18"/>
          <p:cNvSpPr/>
          <p:nvPr/>
        </p:nvSpPr>
        <p:spPr>
          <a:xfrm>
            <a:off x="457200" y="3529584"/>
            <a:ext cx="5486400" cy="621792"/>
          </a:xfrm>
          <a:prstGeom prst="roundRect">
            <a:avLst/>
          </a:prstGeom>
          <a:solidFill>
            <a:srgbClr val="FFFFFF"/>
          </a:solidFill>
          <a:ln w="1270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594360" y="3611880"/>
            <a:ext cx="457200" cy="457200"/>
          </a:xfrm>
          <a:prstGeom prst="ellipse">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1600" b="1">
                <a:solidFill>
                  <a:srgbClr val="FFFFFF"/>
                </a:solidFill>
                <a:latin typeface="Segoe UI Emoji"/>
              </a:defRPr>
            </a:pPr>
            <a:r>
              <a:t>🛡️</a:t>
            </a:r>
          </a:p>
        </p:txBody>
      </p:sp>
      <p:sp>
        <p:nvSpPr>
          <p:cNvPr id="21" name="TextBox 20"/>
          <p:cNvSpPr txBox="1"/>
          <p:nvPr/>
        </p:nvSpPr>
        <p:spPr>
          <a:xfrm>
            <a:off x="1188720" y="3584448"/>
            <a:ext cx="2011680" cy="274320"/>
          </a:xfrm>
          <a:prstGeom prst="rect">
            <a:avLst/>
          </a:prstGeom>
          <a:noFill/>
        </p:spPr>
        <p:txBody>
          <a:bodyPr wrap="square">
            <a:spAutoFit/>
          </a:bodyPr>
          <a:lstStyle/>
          <a:p>
            <a:pPr algn="l">
              <a:lnSpc>
                <a:spcPts val="1439"/>
              </a:lnSpc>
              <a:spcAft>
                <a:spcPts val="0"/>
              </a:spcAft>
              <a:defRPr sz="1200" b="1">
                <a:solidFill>
                  <a:srgbClr val="1B4F72"/>
                </a:solidFill>
                <a:latin typeface="Calibri"/>
              </a:defRPr>
            </a:pPr>
            <a:r>
              <a:t>Admin Dashboard</a:t>
            </a:r>
          </a:p>
        </p:txBody>
      </p:sp>
      <p:sp>
        <p:nvSpPr>
          <p:cNvPr id="22" name="TextBox 21"/>
          <p:cNvSpPr txBox="1"/>
          <p:nvPr/>
        </p:nvSpPr>
        <p:spPr>
          <a:xfrm>
            <a:off x="1188720" y="3849624"/>
            <a:ext cx="4389120" cy="274320"/>
          </a:xfrm>
          <a:prstGeom prst="rect">
            <a:avLst/>
          </a:prstGeom>
          <a:noFill/>
        </p:spPr>
        <p:txBody>
          <a:bodyPr wrap="square">
            <a:spAutoFit/>
          </a:bodyPr>
          <a:lstStyle/>
          <a:p>
            <a:pPr algn="l">
              <a:lnSpc>
                <a:spcPts val="1200"/>
              </a:lnSpc>
              <a:spcAft>
                <a:spcPts val="0"/>
              </a:spcAft>
              <a:defRPr sz="1000" b="0">
                <a:solidFill>
                  <a:srgbClr val="5A5A7A"/>
                </a:solidFill>
                <a:latin typeface="Calibri"/>
              </a:defRPr>
            </a:pPr>
            <a:r>
              <a:t>Review, approve, or reject submissions</a:t>
            </a:r>
          </a:p>
        </p:txBody>
      </p:sp>
      <p:sp>
        <p:nvSpPr>
          <p:cNvPr id="23" name="Rounded Rectangle 22"/>
          <p:cNvSpPr/>
          <p:nvPr/>
        </p:nvSpPr>
        <p:spPr>
          <a:xfrm>
            <a:off x="457200" y="4242816"/>
            <a:ext cx="5486400" cy="621792"/>
          </a:xfrm>
          <a:prstGeom prst="roundRect">
            <a:avLst/>
          </a:prstGeom>
          <a:solidFill>
            <a:srgbClr val="FFFFFF"/>
          </a:solidFill>
          <a:ln w="1270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94360" y="4325112"/>
            <a:ext cx="457200" cy="457200"/>
          </a:xfrm>
          <a:prstGeom prst="ellipse">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1600" b="1">
                <a:solidFill>
                  <a:srgbClr val="FFFFFF"/>
                </a:solidFill>
                <a:latin typeface="Segoe UI Emoji"/>
              </a:defRPr>
            </a:pPr>
            <a:r>
              <a:t>🔐</a:t>
            </a:r>
          </a:p>
        </p:txBody>
      </p:sp>
      <p:sp>
        <p:nvSpPr>
          <p:cNvPr id="25" name="TextBox 24"/>
          <p:cNvSpPr txBox="1"/>
          <p:nvPr/>
        </p:nvSpPr>
        <p:spPr>
          <a:xfrm>
            <a:off x="1188720" y="4297680"/>
            <a:ext cx="2011680" cy="274320"/>
          </a:xfrm>
          <a:prstGeom prst="rect">
            <a:avLst/>
          </a:prstGeom>
          <a:noFill/>
        </p:spPr>
        <p:txBody>
          <a:bodyPr wrap="square">
            <a:spAutoFit/>
          </a:bodyPr>
          <a:lstStyle/>
          <a:p>
            <a:pPr algn="l">
              <a:lnSpc>
                <a:spcPts val="1439"/>
              </a:lnSpc>
              <a:spcAft>
                <a:spcPts val="0"/>
              </a:spcAft>
              <a:defRPr sz="1200" b="1">
                <a:solidFill>
                  <a:srgbClr val="1B4F72"/>
                </a:solidFill>
                <a:latin typeface="Calibri"/>
              </a:defRPr>
            </a:pPr>
            <a:r>
              <a:t>JWT Authentication</a:t>
            </a:r>
          </a:p>
        </p:txBody>
      </p:sp>
      <p:sp>
        <p:nvSpPr>
          <p:cNvPr id="26" name="TextBox 25"/>
          <p:cNvSpPr txBox="1"/>
          <p:nvPr/>
        </p:nvSpPr>
        <p:spPr>
          <a:xfrm>
            <a:off x="1188720" y="4562856"/>
            <a:ext cx="4389120" cy="274320"/>
          </a:xfrm>
          <a:prstGeom prst="rect">
            <a:avLst/>
          </a:prstGeom>
          <a:noFill/>
        </p:spPr>
        <p:txBody>
          <a:bodyPr wrap="square">
            <a:spAutoFit/>
          </a:bodyPr>
          <a:lstStyle/>
          <a:p>
            <a:pPr algn="l">
              <a:lnSpc>
                <a:spcPts val="1200"/>
              </a:lnSpc>
              <a:spcAft>
                <a:spcPts val="0"/>
              </a:spcAft>
              <a:defRPr sz="1000" b="0">
                <a:solidFill>
                  <a:srgbClr val="5A5A7A"/>
                </a:solidFill>
                <a:latin typeface="Calibri"/>
              </a:defRPr>
            </a:pPr>
            <a:r>
              <a:t>Secure admin access with tokens</a:t>
            </a:r>
          </a:p>
        </p:txBody>
      </p:sp>
      <p:sp>
        <p:nvSpPr>
          <p:cNvPr id="27" name="Rounded Rectangle 26"/>
          <p:cNvSpPr/>
          <p:nvPr/>
        </p:nvSpPr>
        <p:spPr>
          <a:xfrm>
            <a:off x="457200" y="4956048"/>
            <a:ext cx="5486400" cy="621792"/>
          </a:xfrm>
          <a:prstGeom prst="roundRect">
            <a:avLst/>
          </a:prstGeom>
          <a:solidFill>
            <a:srgbClr val="FFFFFF"/>
          </a:solidFill>
          <a:ln w="1270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594360" y="5038344"/>
            <a:ext cx="457200" cy="457200"/>
          </a:xfrm>
          <a:prstGeom prst="ellipse">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1600" b="1">
                <a:solidFill>
                  <a:srgbClr val="FFFFFF"/>
                </a:solidFill>
                <a:latin typeface="Segoe UI Emoji"/>
              </a:defRPr>
            </a:pPr>
            <a:r>
              <a:t>📦</a:t>
            </a:r>
          </a:p>
        </p:txBody>
      </p:sp>
      <p:sp>
        <p:nvSpPr>
          <p:cNvPr id="29" name="TextBox 28"/>
          <p:cNvSpPr txBox="1"/>
          <p:nvPr/>
        </p:nvSpPr>
        <p:spPr>
          <a:xfrm>
            <a:off x="1188720" y="5010912"/>
            <a:ext cx="2011680" cy="274320"/>
          </a:xfrm>
          <a:prstGeom prst="rect">
            <a:avLst/>
          </a:prstGeom>
          <a:noFill/>
        </p:spPr>
        <p:txBody>
          <a:bodyPr wrap="square">
            <a:spAutoFit/>
          </a:bodyPr>
          <a:lstStyle/>
          <a:p>
            <a:pPr algn="l">
              <a:lnSpc>
                <a:spcPts val="1439"/>
              </a:lnSpc>
              <a:spcAft>
                <a:spcPts val="0"/>
              </a:spcAft>
              <a:defRPr sz="1200" b="1">
                <a:solidFill>
                  <a:srgbClr val="1B4F72"/>
                </a:solidFill>
                <a:latin typeface="Calibri"/>
              </a:defRPr>
            </a:pPr>
            <a:r>
              <a:t>GridFS Storage</a:t>
            </a:r>
          </a:p>
        </p:txBody>
      </p:sp>
      <p:sp>
        <p:nvSpPr>
          <p:cNvPr id="30" name="TextBox 29"/>
          <p:cNvSpPr txBox="1"/>
          <p:nvPr/>
        </p:nvSpPr>
        <p:spPr>
          <a:xfrm>
            <a:off x="1188720" y="5276088"/>
            <a:ext cx="4389120" cy="274320"/>
          </a:xfrm>
          <a:prstGeom prst="rect">
            <a:avLst/>
          </a:prstGeom>
          <a:noFill/>
        </p:spPr>
        <p:txBody>
          <a:bodyPr wrap="square">
            <a:spAutoFit/>
          </a:bodyPr>
          <a:lstStyle/>
          <a:p>
            <a:pPr algn="l">
              <a:lnSpc>
                <a:spcPts val="1200"/>
              </a:lnSpc>
              <a:spcAft>
                <a:spcPts val="0"/>
              </a:spcAft>
              <a:defRPr sz="1000" b="0">
                <a:solidFill>
                  <a:srgbClr val="5A5A7A"/>
                </a:solidFill>
                <a:latin typeface="Calibri"/>
              </a:defRPr>
            </a:pPr>
            <a:r>
              <a:t>Handle large PDF files efficiently</a:t>
            </a:r>
          </a:p>
        </p:txBody>
      </p:sp>
      <p:sp>
        <p:nvSpPr>
          <p:cNvPr id="31" name="Rounded Rectangle 30"/>
          <p:cNvSpPr/>
          <p:nvPr/>
        </p:nvSpPr>
        <p:spPr>
          <a:xfrm>
            <a:off x="457200" y="5669280"/>
            <a:ext cx="5486400" cy="621792"/>
          </a:xfrm>
          <a:prstGeom prst="roundRect">
            <a:avLst/>
          </a:prstGeom>
          <a:solidFill>
            <a:srgbClr val="FFFFFF"/>
          </a:solidFill>
          <a:ln w="1270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594360" y="5751576"/>
            <a:ext cx="457200" cy="457200"/>
          </a:xfrm>
          <a:prstGeom prst="ellipse">
            <a:avLst/>
          </a:prstGeom>
          <a:solidFill>
            <a:srgbClr val="7B1FA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1600" b="1">
                <a:solidFill>
                  <a:srgbClr val="FFFFFF"/>
                </a:solidFill>
                <a:latin typeface="Segoe UI Emoji"/>
              </a:defRPr>
            </a:pPr>
            <a:r>
              <a:t>☁️</a:t>
            </a:r>
          </a:p>
        </p:txBody>
      </p:sp>
      <p:sp>
        <p:nvSpPr>
          <p:cNvPr id="33" name="TextBox 32"/>
          <p:cNvSpPr txBox="1"/>
          <p:nvPr/>
        </p:nvSpPr>
        <p:spPr>
          <a:xfrm>
            <a:off x="1188720" y="5724144"/>
            <a:ext cx="2011680" cy="274320"/>
          </a:xfrm>
          <a:prstGeom prst="rect">
            <a:avLst/>
          </a:prstGeom>
          <a:noFill/>
        </p:spPr>
        <p:txBody>
          <a:bodyPr wrap="square">
            <a:spAutoFit/>
          </a:bodyPr>
          <a:lstStyle/>
          <a:p>
            <a:pPr algn="l">
              <a:lnSpc>
                <a:spcPts val="1439"/>
              </a:lnSpc>
              <a:spcAft>
                <a:spcPts val="0"/>
              </a:spcAft>
              <a:defRPr sz="1200" b="1">
                <a:solidFill>
                  <a:srgbClr val="1B4F72"/>
                </a:solidFill>
                <a:latin typeface="Calibri"/>
              </a:defRPr>
            </a:pPr>
            <a:r>
              <a:t>Serverless Deploy</a:t>
            </a:r>
          </a:p>
        </p:txBody>
      </p:sp>
      <p:sp>
        <p:nvSpPr>
          <p:cNvPr id="34" name="TextBox 33"/>
          <p:cNvSpPr txBox="1"/>
          <p:nvPr/>
        </p:nvSpPr>
        <p:spPr>
          <a:xfrm>
            <a:off x="1188720" y="5989320"/>
            <a:ext cx="4389120" cy="274320"/>
          </a:xfrm>
          <a:prstGeom prst="rect">
            <a:avLst/>
          </a:prstGeom>
          <a:noFill/>
        </p:spPr>
        <p:txBody>
          <a:bodyPr wrap="square">
            <a:spAutoFit/>
          </a:bodyPr>
          <a:lstStyle/>
          <a:p>
            <a:pPr algn="l">
              <a:lnSpc>
                <a:spcPts val="1200"/>
              </a:lnSpc>
              <a:spcAft>
                <a:spcPts val="0"/>
              </a:spcAft>
              <a:defRPr sz="1000" b="0">
                <a:solidFill>
                  <a:srgbClr val="5A5A7A"/>
                </a:solidFill>
                <a:latin typeface="Calibri"/>
              </a:defRPr>
            </a:pPr>
            <a:r>
              <a:t>Scalable Netlify serverless functions</a:t>
            </a:r>
          </a:p>
        </p:txBody>
      </p:sp>
      <p:sp>
        <p:nvSpPr>
          <p:cNvPr id="35" name="Rounded Rectangle 34"/>
          <p:cNvSpPr/>
          <p:nvPr/>
        </p:nvSpPr>
        <p:spPr>
          <a:xfrm>
            <a:off x="6217920" y="1371600"/>
            <a:ext cx="5486400" cy="548640"/>
          </a:xfrm>
          <a:prstGeom prst="round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50800" rIns="50800" bIns="50800" rtlCol="0" anchor="ctr"/>
          <a:lstStyle/>
          <a:p>
            <a:pPr algn="ctr">
              <a:defRPr sz="1400" b="1">
                <a:solidFill>
                  <a:srgbClr val="FFFFFF"/>
                </a:solidFill>
                <a:latin typeface="Calibri"/>
              </a:defRPr>
            </a:pPr>
            <a:r>
              <a:t>🏆  CHALLENGES SOLVED</a:t>
            </a:r>
          </a:p>
        </p:txBody>
      </p:sp>
      <p:sp>
        <p:nvSpPr>
          <p:cNvPr id="36" name="Rounded Rectangle 35"/>
          <p:cNvSpPr/>
          <p:nvPr/>
        </p:nvSpPr>
        <p:spPr>
          <a:xfrm>
            <a:off x="6217920" y="2103120"/>
            <a:ext cx="5486400" cy="621792"/>
          </a:xfrm>
          <a:prstGeom prst="roundRect">
            <a:avLst/>
          </a:prstGeom>
          <a:solidFill>
            <a:srgbClr val="FFFFFF"/>
          </a:solidFill>
          <a:ln w="1270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355080" y="2185416"/>
            <a:ext cx="457200" cy="457200"/>
          </a:xfrm>
          <a:prstGeom prst="ellipse">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1600" b="1">
                <a:solidFill>
                  <a:srgbClr val="FFFFFF"/>
                </a:solidFill>
                <a:latin typeface="Segoe UI Emoji"/>
              </a:defRPr>
            </a:pPr>
            <a:r>
              <a:t>💾</a:t>
            </a:r>
          </a:p>
        </p:txBody>
      </p:sp>
      <p:sp>
        <p:nvSpPr>
          <p:cNvPr id="38" name="TextBox 37"/>
          <p:cNvSpPr txBox="1"/>
          <p:nvPr/>
        </p:nvSpPr>
        <p:spPr>
          <a:xfrm>
            <a:off x="6949440" y="2157984"/>
            <a:ext cx="2011680" cy="274320"/>
          </a:xfrm>
          <a:prstGeom prst="rect">
            <a:avLst/>
          </a:prstGeom>
          <a:noFill/>
        </p:spPr>
        <p:txBody>
          <a:bodyPr wrap="square">
            <a:spAutoFit/>
          </a:bodyPr>
          <a:lstStyle/>
          <a:p>
            <a:pPr algn="l">
              <a:lnSpc>
                <a:spcPts val="1439"/>
              </a:lnSpc>
              <a:spcAft>
                <a:spcPts val="0"/>
              </a:spcAft>
              <a:defRPr sz="1200" b="1">
                <a:solidFill>
                  <a:srgbClr val="1B4F72"/>
                </a:solidFill>
                <a:latin typeface="Calibri"/>
              </a:defRPr>
            </a:pPr>
            <a:r>
              <a:t>Large PDF Storage</a:t>
            </a:r>
          </a:p>
        </p:txBody>
      </p:sp>
      <p:sp>
        <p:nvSpPr>
          <p:cNvPr id="39" name="TextBox 38"/>
          <p:cNvSpPr txBox="1"/>
          <p:nvPr/>
        </p:nvSpPr>
        <p:spPr>
          <a:xfrm>
            <a:off x="6949440" y="2423160"/>
            <a:ext cx="4389120" cy="274320"/>
          </a:xfrm>
          <a:prstGeom prst="rect">
            <a:avLst/>
          </a:prstGeom>
          <a:noFill/>
        </p:spPr>
        <p:txBody>
          <a:bodyPr wrap="square">
            <a:spAutoFit/>
          </a:bodyPr>
          <a:lstStyle/>
          <a:p>
            <a:pPr algn="l">
              <a:lnSpc>
                <a:spcPts val="1200"/>
              </a:lnSpc>
              <a:spcAft>
                <a:spcPts val="0"/>
              </a:spcAft>
              <a:defRPr sz="1000" b="0">
                <a:solidFill>
                  <a:srgbClr val="5A5A7A"/>
                </a:solidFill>
                <a:latin typeface="Calibri"/>
              </a:defRPr>
            </a:pPr>
            <a:r>
              <a:t>Used GridFS for files exceeding 16MB BSON limit</a:t>
            </a:r>
          </a:p>
        </p:txBody>
      </p:sp>
      <p:sp>
        <p:nvSpPr>
          <p:cNvPr id="40" name="Rounded Rectangle 39"/>
          <p:cNvSpPr/>
          <p:nvPr/>
        </p:nvSpPr>
        <p:spPr>
          <a:xfrm>
            <a:off x="6217920" y="2816352"/>
            <a:ext cx="5486400" cy="621792"/>
          </a:xfrm>
          <a:prstGeom prst="roundRect">
            <a:avLst/>
          </a:prstGeom>
          <a:solidFill>
            <a:srgbClr val="FFFFFF"/>
          </a:solidFill>
          <a:ln w="1270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6355080" y="2898648"/>
            <a:ext cx="457200" cy="457200"/>
          </a:xfrm>
          <a:prstGeom prst="ellipse">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1600" b="1">
                <a:solidFill>
                  <a:srgbClr val="FFFFFF"/>
                </a:solidFill>
                <a:latin typeface="Segoe UI Emoji"/>
              </a:defRPr>
            </a:pPr>
            <a:r>
              <a:t>🗄️</a:t>
            </a:r>
          </a:p>
        </p:txBody>
      </p:sp>
      <p:sp>
        <p:nvSpPr>
          <p:cNvPr id="42" name="TextBox 41"/>
          <p:cNvSpPr txBox="1"/>
          <p:nvPr/>
        </p:nvSpPr>
        <p:spPr>
          <a:xfrm>
            <a:off x="6949440" y="2871216"/>
            <a:ext cx="2011680" cy="274320"/>
          </a:xfrm>
          <a:prstGeom prst="rect">
            <a:avLst/>
          </a:prstGeom>
          <a:noFill/>
        </p:spPr>
        <p:txBody>
          <a:bodyPr wrap="square">
            <a:spAutoFit/>
          </a:bodyPr>
          <a:lstStyle/>
          <a:p>
            <a:pPr algn="l">
              <a:lnSpc>
                <a:spcPts val="1439"/>
              </a:lnSpc>
              <a:spcAft>
                <a:spcPts val="0"/>
              </a:spcAft>
              <a:defRPr sz="1200" b="1">
                <a:solidFill>
                  <a:srgbClr val="1B4F72"/>
                </a:solidFill>
                <a:latin typeface="Calibri"/>
              </a:defRPr>
            </a:pPr>
            <a:r>
              <a:t>MongoDB File Handling</a:t>
            </a:r>
          </a:p>
        </p:txBody>
      </p:sp>
      <p:sp>
        <p:nvSpPr>
          <p:cNvPr id="43" name="TextBox 42"/>
          <p:cNvSpPr txBox="1"/>
          <p:nvPr/>
        </p:nvSpPr>
        <p:spPr>
          <a:xfrm>
            <a:off x="6949440" y="3136392"/>
            <a:ext cx="4389120" cy="274320"/>
          </a:xfrm>
          <a:prstGeom prst="rect">
            <a:avLst/>
          </a:prstGeom>
          <a:noFill/>
        </p:spPr>
        <p:txBody>
          <a:bodyPr wrap="square">
            <a:spAutoFit/>
          </a:bodyPr>
          <a:lstStyle/>
          <a:p>
            <a:pPr algn="l">
              <a:lnSpc>
                <a:spcPts val="1200"/>
              </a:lnSpc>
              <a:spcAft>
                <a:spcPts val="0"/>
              </a:spcAft>
              <a:defRPr sz="1000" b="0">
                <a:solidFill>
                  <a:srgbClr val="5A5A7A"/>
                </a:solidFill>
                <a:latin typeface="Calibri"/>
              </a:defRPr>
            </a:pPr>
            <a:r>
              <a:t>Implemented chunked file storage &amp; retrieval</a:t>
            </a:r>
          </a:p>
        </p:txBody>
      </p:sp>
      <p:sp>
        <p:nvSpPr>
          <p:cNvPr id="44" name="Rounded Rectangle 43"/>
          <p:cNvSpPr/>
          <p:nvPr/>
        </p:nvSpPr>
        <p:spPr>
          <a:xfrm>
            <a:off x="6217920" y="3529584"/>
            <a:ext cx="5486400" cy="621792"/>
          </a:xfrm>
          <a:prstGeom prst="roundRect">
            <a:avLst/>
          </a:prstGeom>
          <a:solidFill>
            <a:srgbClr val="FFFFFF"/>
          </a:solidFill>
          <a:ln w="1270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355080" y="3611880"/>
            <a:ext cx="457200" cy="457200"/>
          </a:xfrm>
          <a:prstGeom prst="ellipse">
            <a:avLst/>
          </a:prstGeom>
          <a:solidFill>
            <a:srgbClr val="1B4F72"/>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1600" b="1">
                <a:solidFill>
                  <a:srgbClr val="FFFFFF"/>
                </a:solidFill>
                <a:latin typeface="Segoe UI Emoji"/>
              </a:defRPr>
            </a:pPr>
            <a:r>
              <a:t>🔒</a:t>
            </a:r>
          </a:p>
        </p:txBody>
      </p:sp>
      <p:sp>
        <p:nvSpPr>
          <p:cNvPr id="46" name="TextBox 45"/>
          <p:cNvSpPr txBox="1"/>
          <p:nvPr/>
        </p:nvSpPr>
        <p:spPr>
          <a:xfrm>
            <a:off x="6949440" y="3584448"/>
            <a:ext cx="2011680" cy="274320"/>
          </a:xfrm>
          <a:prstGeom prst="rect">
            <a:avLst/>
          </a:prstGeom>
          <a:noFill/>
        </p:spPr>
        <p:txBody>
          <a:bodyPr wrap="square">
            <a:spAutoFit/>
          </a:bodyPr>
          <a:lstStyle/>
          <a:p>
            <a:pPr algn="l">
              <a:lnSpc>
                <a:spcPts val="1439"/>
              </a:lnSpc>
              <a:spcAft>
                <a:spcPts val="0"/>
              </a:spcAft>
              <a:defRPr sz="1200" b="1">
                <a:solidFill>
                  <a:srgbClr val="1B4F72"/>
                </a:solidFill>
                <a:latin typeface="Calibri"/>
              </a:defRPr>
            </a:pPr>
            <a:r>
              <a:t>Authentication</a:t>
            </a:r>
          </a:p>
        </p:txBody>
      </p:sp>
      <p:sp>
        <p:nvSpPr>
          <p:cNvPr id="47" name="TextBox 46"/>
          <p:cNvSpPr txBox="1"/>
          <p:nvPr/>
        </p:nvSpPr>
        <p:spPr>
          <a:xfrm>
            <a:off x="6949440" y="3849624"/>
            <a:ext cx="4389120" cy="274320"/>
          </a:xfrm>
          <a:prstGeom prst="rect">
            <a:avLst/>
          </a:prstGeom>
          <a:noFill/>
        </p:spPr>
        <p:txBody>
          <a:bodyPr wrap="square">
            <a:spAutoFit/>
          </a:bodyPr>
          <a:lstStyle/>
          <a:p>
            <a:pPr algn="l">
              <a:lnSpc>
                <a:spcPts val="1200"/>
              </a:lnSpc>
              <a:spcAft>
                <a:spcPts val="0"/>
              </a:spcAft>
              <a:defRPr sz="1000" b="0">
                <a:solidFill>
                  <a:srgbClr val="5A5A7A"/>
                </a:solidFill>
                <a:latin typeface="Calibri"/>
              </a:defRPr>
            </a:pPr>
            <a:r>
              <a:t>Built JWT-based auth with refresh tokens</a:t>
            </a:r>
          </a:p>
        </p:txBody>
      </p:sp>
      <p:sp>
        <p:nvSpPr>
          <p:cNvPr id="48" name="Rounded Rectangle 47"/>
          <p:cNvSpPr/>
          <p:nvPr/>
        </p:nvSpPr>
        <p:spPr>
          <a:xfrm>
            <a:off x="6217920" y="4242816"/>
            <a:ext cx="5486400" cy="621792"/>
          </a:xfrm>
          <a:prstGeom prst="roundRect">
            <a:avLst/>
          </a:prstGeom>
          <a:solidFill>
            <a:srgbClr val="FFFFFF"/>
          </a:solidFill>
          <a:ln w="1270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355080" y="4325112"/>
            <a:ext cx="457200" cy="457200"/>
          </a:xfrm>
          <a:prstGeom prst="ellipse">
            <a:avLst/>
          </a:prstGeom>
          <a:solidFill>
            <a:srgbClr val="009688"/>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1600" b="1">
                <a:solidFill>
                  <a:srgbClr val="FFFFFF"/>
                </a:solidFill>
                <a:latin typeface="Segoe UI Emoji"/>
              </a:defRPr>
            </a:pPr>
            <a:r>
              <a:t>⚡</a:t>
            </a:r>
          </a:p>
        </p:txBody>
      </p:sp>
      <p:sp>
        <p:nvSpPr>
          <p:cNvPr id="50" name="TextBox 49"/>
          <p:cNvSpPr txBox="1"/>
          <p:nvPr/>
        </p:nvSpPr>
        <p:spPr>
          <a:xfrm>
            <a:off x="6949440" y="4297680"/>
            <a:ext cx="2011680" cy="274320"/>
          </a:xfrm>
          <a:prstGeom prst="rect">
            <a:avLst/>
          </a:prstGeom>
          <a:noFill/>
        </p:spPr>
        <p:txBody>
          <a:bodyPr wrap="square">
            <a:spAutoFit/>
          </a:bodyPr>
          <a:lstStyle/>
          <a:p>
            <a:pPr algn="l">
              <a:lnSpc>
                <a:spcPts val="1439"/>
              </a:lnSpc>
              <a:spcAft>
                <a:spcPts val="0"/>
              </a:spcAft>
              <a:defRPr sz="1200" b="1">
                <a:solidFill>
                  <a:srgbClr val="1B4F72"/>
                </a:solidFill>
                <a:latin typeface="Calibri"/>
              </a:defRPr>
            </a:pPr>
            <a:r>
              <a:t>Serverless Deployment</a:t>
            </a:r>
          </a:p>
        </p:txBody>
      </p:sp>
      <p:sp>
        <p:nvSpPr>
          <p:cNvPr id="51" name="TextBox 50"/>
          <p:cNvSpPr txBox="1"/>
          <p:nvPr/>
        </p:nvSpPr>
        <p:spPr>
          <a:xfrm>
            <a:off x="6949440" y="4562856"/>
            <a:ext cx="4389120" cy="274320"/>
          </a:xfrm>
          <a:prstGeom prst="rect">
            <a:avLst/>
          </a:prstGeom>
          <a:noFill/>
        </p:spPr>
        <p:txBody>
          <a:bodyPr wrap="square">
            <a:spAutoFit/>
          </a:bodyPr>
          <a:lstStyle/>
          <a:p>
            <a:pPr algn="l">
              <a:lnSpc>
                <a:spcPts val="1200"/>
              </a:lnSpc>
              <a:spcAft>
                <a:spcPts val="0"/>
              </a:spcAft>
              <a:defRPr sz="1000" b="0">
                <a:solidFill>
                  <a:srgbClr val="5A5A7A"/>
                </a:solidFill>
                <a:latin typeface="Calibri"/>
              </a:defRPr>
            </a:pPr>
            <a:r>
              <a:t>Adapted Express.js for Netlify Functions</a:t>
            </a:r>
          </a:p>
        </p:txBody>
      </p:sp>
      <p:sp>
        <p:nvSpPr>
          <p:cNvPr id="52" name="Rounded Rectangle 51"/>
          <p:cNvSpPr/>
          <p:nvPr/>
        </p:nvSpPr>
        <p:spPr>
          <a:xfrm>
            <a:off x="6217920" y="4956048"/>
            <a:ext cx="5486400" cy="621792"/>
          </a:xfrm>
          <a:prstGeom prst="roundRect">
            <a:avLst/>
          </a:prstGeom>
          <a:solidFill>
            <a:srgbClr val="FFFFFF"/>
          </a:solidFill>
          <a:ln w="1270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6355080" y="5038344"/>
            <a:ext cx="457200" cy="457200"/>
          </a:xfrm>
          <a:prstGeom prst="ellipse">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1600" b="1">
                <a:solidFill>
                  <a:srgbClr val="FFFFFF"/>
                </a:solidFill>
                <a:latin typeface="Segoe UI Emoji"/>
              </a:defRPr>
            </a:pPr>
            <a:r>
              <a:t>📄</a:t>
            </a:r>
          </a:p>
        </p:txBody>
      </p:sp>
      <p:sp>
        <p:nvSpPr>
          <p:cNvPr id="54" name="TextBox 53"/>
          <p:cNvSpPr txBox="1"/>
          <p:nvPr/>
        </p:nvSpPr>
        <p:spPr>
          <a:xfrm>
            <a:off x="6949440" y="5010912"/>
            <a:ext cx="2011680" cy="274320"/>
          </a:xfrm>
          <a:prstGeom prst="rect">
            <a:avLst/>
          </a:prstGeom>
          <a:noFill/>
        </p:spPr>
        <p:txBody>
          <a:bodyPr wrap="square">
            <a:spAutoFit/>
          </a:bodyPr>
          <a:lstStyle/>
          <a:p>
            <a:pPr algn="l">
              <a:lnSpc>
                <a:spcPts val="1439"/>
              </a:lnSpc>
              <a:spcAft>
                <a:spcPts val="0"/>
              </a:spcAft>
              <a:defRPr sz="1200" b="1">
                <a:solidFill>
                  <a:srgbClr val="1B4F72"/>
                </a:solidFill>
                <a:latin typeface="Calibri"/>
              </a:defRPr>
            </a:pPr>
            <a:r>
              <a:t>PDF Streaming</a:t>
            </a:r>
          </a:p>
        </p:txBody>
      </p:sp>
      <p:sp>
        <p:nvSpPr>
          <p:cNvPr id="55" name="TextBox 54"/>
          <p:cNvSpPr txBox="1"/>
          <p:nvPr/>
        </p:nvSpPr>
        <p:spPr>
          <a:xfrm>
            <a:off x="6949440" y="5276088"/>
            <a:ext cx="4389120" cy="274320"/>
          </a:xfrm>
          <a:prstGeom prst="rect">
            <a:avLst/>
          </a:prstGeom>
          <a:noFill/>
        </p:spPr>
        <p:txBody>
          <a:bodyPr wrap="square">
            <a:spAutoFit/>
          </a:bodyPr>
          <a:lstStyle/>
          <a:p>
            <a:pPr algn="l">
              <a:lnSpc>
                <a:spcPts val="1200"/>
              </a:lnSpc>
              <a:spcAft>
                <a:spcPts val="0"/>
              </a:spcAft>
              <a:defRPr sz="1000" b="0">
                <a:solidFill>
                  <a:srgbClr val="5A5A7A"/>
                </a:solidFill>
                <a:latin typeface="Calibri"/>
              </a:defRPr>
            </a:pPr>
            <a:r>
              <a:t>Implemented efficient streaming for previews</a:t>
            </a:r>
          </a:p>
        </p:txBody>
      </p:sp>
      <p:sp>
        <p:nvSpPr>
          <p:cNvPr id="56" name="Rounded Rectangle 55"/>
          <p:cNvSpPr/>
          <p:nvPr/>
        </p:nvSpPr>
        <p:spPr>
          <a:xfrm>
            <a:off x="6217920" y="5669280"/>
            <a:ext cx="5486400" cy="621792"/>
          </a:xfrm>
          <a:prstGeom prst="roundRect">
            <a:avLst/>
          </a:prstGeom>
          <a:solidFill>
            <a:srgbClr val="FFFFFF"/>
          </a:solidFill>
          <a:ln w="12700">
            <a:solidFill>
              <a:srgbClr val="E3F2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6355080" y="5751576"/>
            <a:ext cx="457200" cy="457200"/>
          </a:xfrm>
          <a:prstGeom prst="ellipse">
            <a:avLst/>
          </a:prstGeom>
          <a:solidFill>
            <a:srgbClr val="4CAF50"/>
          </a:solidFill>
          <a:ln>
            <a:noFill/>
          </a:ln>
          <a:effectLst/>
        </p:spPr>
        <p:style>
          <a:lnRef idx="1">
            <a:schemeClr val="accent1"/>
          </a:lnRef>
          <a:fillRef idx="3">
            <a:schemeClr val="accent1"/>
          </a:fillRef>
          <a:effectRef idx="2">
            <a:schemeClr val="accent1"/>
          </a:effectRef>
          <a:fontRef idx="minor">
            <a:schemeClr val="lt1"/>
          </a:fontRef>
        </p:style>
        <p:txBody>
          <a:bodyPr wrap="none" lIns="0" rIns="0" rtlCol="0" anchor="ctr"/>
          <a:lstStyle/>
          <a:p>
            <a:pPr algn="ctr">
              <a:defRPr sz="1600" b="1">
                <a:solidFill>
                  <a:srgbClr val="FFFFFF"/>
                </a:solidFill>
                <a:latin typeface="Segoe UI Emoji"/>
              </a:defRPr>
            </a:pPr>
            <a:r>
              <a:t>🌐</a:t>
            </a:r>
          </a:p>
        </p:txBody>
      </p:sp>
      <p:sp>
        <p:nvSpPr>
          <p:cNvPr id="58" name="TextBox 57"/>
          <p:cNvSpPr txBox="1"/>
          <p:nvPr/>
        </p:nvSpPr>
        <p:spPr>
          <a:xfrm>
            <a:off x="6949440" y="5724144"/>
            <a:ext cx="2011680" cy="274320"/>
          </a:xfrm>
          <a:prstGeom prst="rect">
            <a:avLst/>
          </a:prstGeom>
          <a:noFill/>
        </p:spPr>
        <p:txBody>
          <a:bodyPr wrap="square">
            <a:spAutoFit/>
          </a:bodyPr>
          <a:lstStyle/>
          <a:p>
            <a:pPr algn="l">
              <a:lnSpc>
                <a:spcPts val="1439"/>
              </a:lnSpc>
              <a:spcAft>
                <a:spcPts val="0"/>
              </a:spcAft>
              <a:defRPr sz="1200" b="1">
                <a:solidFill>
                  <a:srgbClr val="1B4F72"/>
                </a:solidFill>
                <a:latin typeface="Calibri"/>
              </a:defRPr>
            </a:pPr>
            <a:r>
              <a:t>CORS &amp; Security</a:t>
            </a:r>
          </a:p>
        </p:txBody>
      </p:sp>
      <p:sp>
        <p:nvSpPr>
          <p:cNvPr id="59" name="TextBox 58"/>
          <p:cNvSpPr txBox="1"/>
          <p:nvPr/>
        </p:nvSpPr>
        <p:spPr>
          <a:xfrm>
            <a:off x="6949440" y="5989320"/>
            <a:ext cx="4389120" cy="274320"/>
          </a:xfrm>
          <a:prstGeom prst="rect">
            <a:avLst/>
          </a:prstGeom>
          <a:noFill/>
        </p:spPr>
        <p:txBody>
          <a:bodyPr wrap="square">
            <a:spAutoFit/>
          </a:bodyPr>
          <a:lstStyle/>
          <a:p>
            <a:pPr algn="l">
              <a:lnSpc>
                <a:spcPts val="1200"/>
              </a:lnSpc>
              <a:spcAft>
                <a:spcPts val="0"/>
              </a:spcAft>
              <a:defRPr sz="1000" b="0">
                <a:solidFill>
                  <a:srgbClr val="5A5A7A"/>
                </a:solidFill>
                <a:latin typeface="Calibri"/>
              </a:defRPr>
            </a:pPr>
            <a:r>
              <a:t>Configured cross-origin policies properly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14400" y="-914400"/>
            <a:ext cx="2743200" cy="2743200"/>
          </a:xfrm>
          <a:prstGeom prst="ellipse">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058400" y="5029200"/>
            <a:ext cx="3200400" cy="3200400"/>
          </a:xfrm>
          <a:prstGeom prst="ellipse">
            <a:avLst/>
          </a:prstGeom>
          <a:solidFill>
            <a:srgbClr val="1B3A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731520"/>
            <a:ext cx="4572000" cy="457200"/>
          </a:xfrm>
          <a:prstGeom prst="rect">
            <a:avLst/>
          </a:prstGeom>
          <a:noFill/>
        </p:spPr>
        <p:txBody>
          <a:bodyPr wrap="square">
            <a:spAutoFit/>
          </a:bodyPr>
          <a:lstStyle/>
          <a:p>
            <a:pPr algn="l">
              <a:lnSpc>
                <a:spcPts val="2640"/>
              </a:lnSpc>
              <a:spcAft>
                <a:spcPts val="0"/>
              </a:spcAft>
              <a:defRPr sz="2200" b="1">
                <a:solidFill>
                  <a:srgbClr val="2196F3"/>
                </a:solidFill>
                <a:latin typeface="Calibri"/>
              </a:defRPr>
            </a:pPr>
            <a:r>
              <a:t>📌  CONCLUSION</a:t>
            </a:r>
          </a:p>
        </p:txBody>
      </p:sp>
      <p:sp>
        <p:nvSpPr>
          <p:cNvPr id="6" name="Rectangle 5"/>
          <p:cNvSpPr/>
          <p:nvPr/>
        </p:nvSpPr>
        <p:spPr>
          <a:xfrm>
            <a:off x="731520" y="1234440"/>
            <a:ext cx="1828800" cy="36576"/>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17320"/>
            <a:ext cx="5029200" cy="1645920"/>
          </a:xfrm>
          <a:prstGeom prst="rect">
            <a:avLst/>
          </a:prstGeom>
          <a:noFill/>
        </p:spPr>
        <p:txBody>
          <a:bodyPr wrap="square">
            <a:spAutoFit/>
          </a:bodyPr>
          <a:lstStyle/>
          <a:p>
            <a:pPr algn="l">
              <a:lnSpc>
                <a:spcPts val="2520"/>
              </a:lnSpc>
              <a:spcAft>
                <a:spcPts val="400"/>
              </a:spcAft>
              <a:defRPr sz="1400" b="0">
                <a:solidFill>
                  <a:srgbClr val="B0BEC5"/>
                </a:solidFill>
                <a:latin typeface="Calibri"/>
              </a:defRPr>
            </a:pPr>
            <a:r>
              <a:t>•  Built a scalable academic document-sharing platform</a:t>
            </a:r>
          </a:p>
          <a:p>
            <a:pPr algn="l">
              <a:lnSpc>
                <a:spcPts val="2520"/>
              </a:lnSpc>
              <a:spcAft>
                <a:spcPts val="400"/>
              </a:spcAft>
              <a:defRPr sz="1400" b="0">
                <a:solidFill>
                  <a:srgbClr val="B0BEC5"/>
                </a:solidFill>
                <a:latin typeface="Calibri"/>
              </a:defRPr>
            </a:pPr>
            <a:r>
              <a:t>•  Simplified question paper management and retrieval</a:t>
            </a:r>
          </a:p>
          <a:p>
            <a:pPr algn="l">
              <a:lnSpc>
                <a:spcPts val="2520"/>
              </a:lnSpc>
              <a:spcAft>
                <a:spcPts val="400"/>
              </a:spcAft>
              <a:defRPr sz="1400" b="0">
                <a:solidFill>
                  <a:srgbClr val="B0BEC5"/>
                </a:solidFill>
                <a:latin typeface="Calibri"/>
              </a:defRPr>
            </a:pPr>
            <a:r>
              <a:t>•  Implemented secure admin-controlled approval workflow</a:t>
            </a:r>
          </a:p>
          <a:p>
            <a:pPr algn="l">
              <a:lnSpc>
                <a:spcPts val="2520"/>
              </a:lnSpc>
              <a:spcAft>
                <a:spcPts val="400"/>
              </a:spcAft>
              <a:defRPr sz="1400" b="0">
                <a:solidFill>
                  <a:srgbClr val="B0BEC5"/>
                </a:solidFill>
                <a:latin typeface="Calibri"/>
              </a:defRPr>
            </a:pPr>
            <a:r>
              <a:t>•  Deployed as a fully serverless application</a:t>
            </a:r>
          </a:p>
        </p:txBody>
      </p:sp>
      <p:sp>
        <p:nvSpPr>
          <p:cNvPr id="8" name="TextBox 7"/>
          <p:cNvSpPr txBox="1"/>
          <p:nvPr/>
        </p:nvSpPr>
        <p:spPr>
          <a:xfrm>
            <a:off x="6400800" y="731520"/>
            <a:ext cx="5029200" cy="457200"/>
          </a:xfrm>
          <a:prstGeom prst="rect">
            <a:avLst/>
          </a:prstGeom>
          <a:noFill/>
        </p:spPr>
        <p:txBody>
          <a:bodyPr wrap="square">
            <a:spAutoFit/>
          </a:bodyPr>
          <a:lstStyle/>
          <a:p>
            <a:pPr algn="l">
              <a:lnSpc>
                <a:spcPts val="2640"/>
              </a:lnSpc>
              <a:spcAft>
                <a:spcPts val="0"/>
              </a:spcAft>
              <a:defRPr sz="2200" b="1">
                <a:solidFill>
                  <a:srgbClr val="FF9800"/>
                </a:solidFill>
                <a:latin typeface="Calibri"/>
              </a:defRPr>
            </a:pPr>
            <a:r>
              <a:t>🚀  FUTURE ENHANCEMENTS</a:t>
            </a:r>
          </a:p>
        </p:txBody>
      </p:sp>
      <p:sp>
        <p:nvSpPr>
          <p:cNvPr id="9" name="Rectangle 8"/>
          <p:cNvSpPr/>
          <p:nvPr/>
        </p:nvSpPr>
        <p:spPr>
          <a:xfrm>
            <a:off x="6400800" y="1234440"/>
            <a:ext cx="1828800" cy="36576"/>
          </a:xfrm>
          <a:prstGeom prst="rect">
            <a:avLst/>
          </a:prstGeom>
          <a:solidFill>
            <a:srgbClr val="FF9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417320"/>
            <a:ext cx="365760" cy="320040"/>
          </a:xfrm>
          <a:prstGeom prst="rect">
            <a:avLst/>
          </a:prstGeom>
          <a:noFill/>
        </p:spPr>
        <p:txBody>
          <a:bodyPr wrap="square">
            <a:spAutoFit/>
          </a:bodyPr>
          <a:lstStyle/>
          <a:p>
            <a:pPr algn="l">
              <a:lnSpc>
                <a:spcPts val="1680"/>
              </a:lnSpc>
              <a:spcAft>
                <a:spcPts val="0"/>
              </a:spcAft>
              <a:defRPr sz="1400" b="0">
                <a:solidFill>
                  <a:srgbClr val="FFFFFF"/>
                </a:solidFill>
                <a:latin typeface="Segoe UI Emoji"/>
              </a:defRPr>
            </a:pPr>
            <a:r>
              <a:t>👤</a:t>
            </a:r>
          </a:p>
        </p:txBody>
      </p:sp>
      <p:sp>
        <p:nvSpPr>
          <p:cNvPr id="11" name="TextBox 10"/>
          <p:cNvSpPr txBox="1"/>
          <p:nvPr/>
        </p:nvSpPr>
        <p:spPr>
          <a:xfrm>
            <a:off x="6812280" y="1417320"/>
            <a:ext cx="2011680" cy="274320"/>
          </a:xfrm>
          <a:prstGeom prst="rect">
            <a:avLst/>
          </a:prstGeom>
          <a:noFill/>
        </p:spPr>
        <p:txBody>
          <a:bodyPr wrap="square">
            <a:spAutoFit/>
          </a:bodyPr>
          <a:lstStyle/>
          <a:p>
            <a:pPr algn="l">
              <a:lnSpc>
                <a:spcPts val="1560"/>
              </a:lnSpc>
              <a:spcAft>
                <a:spcPts val="0"/>
              </a:spcAft>
              <a:defRPr sz="1300" b="1">
                <a:solidFill>
                  <a:srgbClr val="FFFFFF"/>
                </a:solidFill>
                <a:latin typeface="Calibri"/>
              </a:defRPr>
            </a:pPr>
            <a:r>
              <a:t>Student Accounts</a:t>
            </a:r>
          </a:p>
        </p:txBody>
      </p:sp>
      <p:sp>
        <p:nvSpPr>
          <p:cNvPr id="12" name="TextBox 11"/>
          <p:cNvSpPr txBox="1"/>
          <p:nvPr/>
        </p:nvSpPr>
        <p:spPr>
          <a:xfrm>
            <a:off x="8869680" y="1417320"/>
            <a:ext cx="2743200" cy="274320"/>
          </a:xfrm>
          <a:prstGeom prst="rect">
            <a:avLst/>
          </a:prstGeom>
          <a:noFill/>
        </p:spPr>
        <p:txBody>
          <a:bodyPr wrap="square">
            <a:spAutoFit/>
          </a:bodyPr>
          <a:lstStyle/>
          <a:p>
            <a:pPr algn="l">
              <a:lnSpc>
                <a:spcPts val="1320"/>
              </a:lnSpc>
              <a:spcAft>
                <a:spcPts val="0"/>
              </a:spcAft>
              <a:defRPr sz="1100" b="0">
                <a:solidFill>
                  <a:srgbClr val="90A4AE"/>
                </a:solidFill>
                <a:latin typeface="Calibri"/>
              </a:defRPr>
            </a:pPr>
            <a:r>
              <a:t>Personal profiles &amp; upload history</a:t>
            </a:r>
          </a:p>
        </p:txBody>
      </p:sp>
      <p:sp>
        <p:nvSpPr>
          <p:cNvPr id="13" name="TextBox 12"/>
          <p:cNvSpPr txBox="1"/>
          <p:nvPr/>
        </p:nvSpPr>
        <p:spPr>
          <a:xfrm>
            <a:off x="6400800" y="1920240"/>
            <a:ext cx="365760" cy="320040"/>
          </a:xfrm>
          <a:prstGeom prst="rect">
            <a:avLst/>
          </a:prstGeom>
          <a:noFill/>
        </p:spPr>
        <p:txBody>
          <a:bodyPr wrap="square">
            <a:spAutoFit/>
          </a:bodyPr>
          <a:lstStyle/>
          <a:p>
            <a:pPr algn="l">
              <a:lnSpc>
                <a:spcPts val="1680"/>
              </a:lnSpc>
              <a:spcAft>
                <a:spcPts val="0"/>
              </a:spcAft>
              <a:defRPr sz="1400" b="0">
                <a:solidFill>
                  <a:srgbClr val="FFFFFF"/>
                </a:solidFill>
                <a:latin typeface="Segoe UI Emoji"/>
              </a:defRPr>
            </a:pPr>
            <a:r>
              <a:t>🤖</a:t>
            </a:r>
          </a:p>
        </p:txBody>
      </p:sp>
      <p:sp>
        <p:nvSpPr>
          <p:cNvPr id="14" name="TextBox 13"/>
          <p:cNvSpPr txBox="1"/>
          <p:nvPr/>
        </p:nvSpPr>
        <p:spPr>
          <a:xfrm>
            <a:off x="6812280" y="1920240"/>
            <a:ext cx="2011680" cy="274320"/>
          </a:xfrm>
          <a:prstGeom prst="rect">
            <a:avLst/>
          </a:prstGeom>
          <a:noFill/>
        </p:spPr>
        <p:txBody>
          <a:bodyPr wrap="square">
            <a:spAutoFit/>
          </a:bodyPr>
          <a:lstStyle/>
          <a:p>
            <a:pPr algn="l">
              <a:lnSpc>
                <a:spcPts val="1560"/>
              </a:lnSpc>
              <a:spcAft>
                <a:spcPts val="0"/>
              </a:spcAft>
              <a:defRPr sz="1300" b="1">
                <a:solidFill>
                  <a:srgbClr val="FFFFFF"/>
                </a:solidFill>
                <a:latin typeface="Calibri"/>
              </a:defRPr>
            </a:pPr>
            <a:r>
              <a:t>AI-Powered Search</a:t>
            </a:r>
          </a:p>
        </p:txBody>
      </p:sp>
      <p:sp>
        <p:nvSpPr>
          <p:cNvPr id="15" name="TextBox 14"/>
          <p:cNvSpPr txBox="1"/>
          <p:nvPr/>
        </p:nvSpPr>
        <p:spPr>
          <a:xfrm>
            <a:off x="8869680" y="1920240"/>
            <a:ext cx="2743200" cy="274320"/>
          </a:xfrm>
          <a:prstGeom prst="rect">
            <a:avLst/>
          </a:prstGeom>
          <a:noFill/>
        </p:spPr>
        <p:txBody>
          <a:bodyPr wrap="square">
            <a:spAutoFit/>
          </a:bodyPr>
          <a:lstStyle/>
          <a:p>
            <a:pPr algn="l">
              <a:lnSpc>
                <a:spcPts val="1320"/>
              </a:lnSpc>
              <a:spcAft>
                <a:spcPts val="0"/>
              </a:spcAft>
              <a:defRPr sz="1100" b="0">
                <a:solidFill>
                  <a:srgbClr val="90A4AE"/>
                </a:solidFill>
                <a:latin typeface="Calibri"/>
              </a:defRPr>
            </a:pPr>
            <a:r>
              <a:t>Smart recommendations using ML</a:t>
            </a:r>
          </a:p>
        </p:txBody>
      </p:sp>
      <p:sp>
        <p:nvSpPr>
          <p:cNvPr id="16" name="TextBox 15"/>
          <p:cNvSpPr txBox="1"/>
          <p:nvPr/>
        </p:nvSpPr>
        <p:spPr>
          <a:xfrm>
            <a:off x="6400800" y="2423160"/>
            <a:ext cx="365760" cy="320040"/>
          </a:xfrm>
          <a:prstGeom prst="rect">
            <a:avLst/>
          </a:prstGeom>
          <a:noFill/>
        </p:spPr>
        <p:txBody>
          <a:bodyPr wrap="square">
            <a:spAutoFit/>
          </a:bodyPr>
          <a:lstStyle/>
          <a:p>
            <a:pPr algn="l">
              <a:lnSpc>
                <a:spcPts val="1680"/>
              </a:lnSpc>
              <a:spcAft>
                <a:spcPts val="0"/>
              </a:spcAft>
              <a:defRPr sz="1400" b="0">
                <a:solidFill>
                  <a:srgbClr val="FFFFFF"/>
                </a:solidFill>
                <a:latin typeface="Segoe UI Emoji"/>
              </a:defRPr>
            </a:pPr>
            <a:r>
              <a:t>📝</a:t>
            </a:r>
          </a:p>
        </p:txBody>
      </p:sp>
      <p:sp>
        <p:nvSpPr>
          <p:cNvPr id="17" name="TextBox 16"/>
          <p:cNvSpPr txBox="1"/>
          <p:nvPr/>
        </p:nvSpPr>
        <p:spPr>
          <a:xfrm>
            <a:off x="6812280" y="2423160"/>
            <a:ext cx="2011680" cy="274320"/>
          </a:xfrm>
          <a:prstGeom prst="rect">
            <a:avLst/>
          </a:prstGeom>
          <a:noFill/>
        </p:spPr>
        <p:txBody>
          <a:bodyPr wrap="square">
            <a:spAutoFit/>
          </a:bodyPr>
          <a:lstStyle/>
          <a:p>
            <a:pPr algn="l">
              <a:lnSpc>
                <a:spcPts val="1560"/>
              </a:lnSpc>
              <a:spcAft>
                <a:spcPts val="0"/>
              </a:spcAft>
              <a:defRPr sz="1300" b="1">
                <a:solidFill>
                  <a:srgbClr val="FFFFFF"/>
                </a:solidFill>
                <a:latin typeface="Calibri"/>
              </a:defRPr>
            </a:pPr>
            <a:r>
              <a:t>OCR Extraction</a:t>
            </a:r>
          </a:p>
        </p:txBody>
      </p:sp>
      <p:sp>
        <p:nvSpPr>
          <p:cNvPr id="18" name="TextBox 17"/>
          <p:cNvSpPr txBox="1"/>
          <p:nvPr/>
        </p:nvSpPr>
        <p:spPr>
          <a:xfrm>
            <a:off x="8869680" y="2423160"/>
            <a:ext cx="2743200" cy="274320"/>
          </a:xfrm>
          <a:prstGeom prst="rect">
            <a:avLst/>
          </a:prstGeom>
          <a:noFill/>
        </p:spPr>
        <p:txBody>
          <a:bodyPr wrap="square">
            <a:spAutoFit/>
          </a:bodyPr>
          <a:lstStyle/>
          <a:p>
            <a:pPr algn="l">
              <a:lnSpc>
                <a:spcPts val="1320"/>
              </a:lnSpc>
              <a:spcAft>
                <a:spcPts val="0"/>
              </a:spcAft>
              <a:defRPr sz="1100" b="0">
                <a:solidFill>
                  <a:srgbClr val="90A4AE"/>
                </a:solidFill>
                <a:latin typeface="Calibri"/>
              </a:defRPr>
            </a:pPr>
            <a:r>
              <a:t>Extract text content from PDFs</a:t>
            </a:r>
          </a:p>
        </p:txBody>
      </p:sp>
      <p:sp>
        <p:nvSpPr>
          <p:cNvPr id="19" name="TextBox 18"/>
          <p:cNvSpPr txBox="1"/>
          <p:nvPr/>
        </p:nvSpPr>
        <p:spPr>
          <a:xfrm>
            <a:off x="6400800" y="2926080"/>
            <a:ext cx="365760" cy="320040"/>
          </a:xfrm>
          <a:prstGeom prst="rect">
            <a:avLst/>
          </a:prstGeom>
          <a:noFill/>
        </p:spPr>
        <p:txBody>
          <a:bodyPr wrap="square">
            <a:spAutoFit/>
          </a:bodyPr>
          <a:lstStyle/>
          <a:p>
            <a:pPr algn="l">
              <a:lnSpc>
                <a:spcPts val="1680"/>
              </a:lnSpc>
              <a:spcAft>
                <a:spcPts val="0"/>
              </a:spcAft>
              <a:defRPr sz="1400" b="0">
                <a:solidFill>
                  <a:srgbClr val="FFFFFF"/>
                </a:solidFill>
                <a:latin typeface="Segoe UI Emoji"/>
              </a:defRPr>
            </a:pPr>
            <a:r>
              <a:t>📊</a:t>
            </a:r>
          </a:p>
        </p:txBody>
      </p:sp>
      <p:sp>
        <p:nvSpPr>
          <p:cNvPr id="20" name="TextBox 19"/>
          <p:cNvSpPr txBox="1"/>
          <p:nvPr/>
        </p:nvSpPr>
        <p:spPr>
          <a:xfrm>
            <a:off x="6812280" y="2926080"/>
            <a:ext cx="2011680" cy="274320"/>
          </a:xfrm>
          <a:prstGeom prst="rect">
            <a:avLst/>
          </a:prstGeom>
          <a:noFill/>
        </p:spPr>
        <p:txBody>
          <a:bodyPr wrap="square">
            <a:spAutoFit/>
          </a:bodyPr>
          <a:lstStyle/>
          <a:p>
            <a:pPr algn="l">
              <a:lnSpc>
                <a:spcPts val="1560"/>
              </a:lnSpc>
              <a:spcAft>
                <a:spcPts val="0"/>
              </a:spcAft>
              <a:defRPr sz="1300" b="1">
                <a:solidFill>
                  <a:srgbClr val="FFFFFF"/>
                </a:solidFill>
                <a:latin typeface="Calibri"/>
              </a:defRPr>
            </a:pPr>
            <a:r>
              <a:t>Analytics Dashboard</a:t>
            </a:r>
          </a:p>
        </p:txBody>
      </p:sp>
      <p:sp>
        <p:nvSpPr>
          <p:cNvPr id="21" name="TextBox 20"/>
          <p:cNvSpPr txBox="1"/>
          <p:nvPr/>
        </p:nvSpPr>
        <p:spPr>
          <a:xfrm>
            <a:off x="8869680" y="2926080"/>
            <a:ext cx="2743200" cy="274320"/>
          </a:xfrm>
          <a:prstGeom prst="rect">
            <a:avLst/>
          </a:prstGeom>
          <a:noFill/>
        </p:spPr>
        <p:txBody>
          <a:bodyPr wrap="square">
            <a:spAutoFit/>
          </a:bodyPr>
          <a:lstStyle/>
          <a:p>
            <a:pPr algn="l">
              <a:lnSpc>
                <a:spcPts val="1320"/>
              </a:lnSpc>
              <a:spcAft>
                <a:spcPts val="0"/>
              </a:spcAft>
              <a:defRPr sz="1100" b="0">
                <a:solidFill>
                  <a:srgbClr val="90A4AE"/>
                </a:solidFill>
                <a:latin typeface="Calibri"/>
              </a:defRPr>
            </a:pPr>
            <a:r>
              <a:t>Usage stats and insights</a:t>
            </a:r>
          </a:p>
        </p:txBody>
      </p:sp>
      <p:sp>
        <p:nvSpPr>
          <p:cNvPr id="22" name="TextBox 21"/>
          <p:cNvSpPr txBox="1"/>
          <p:nvPr/>
        </p:nvSpPr>
        <p:spPr>
          <a:xfrm>
            <a:off x="6400800" y="3429000"/>
            <a:ext cx="365760" cy="320040"/>
          </a:xfrm>
          <a:prstGeom prst="rect">
            <a:avLst/>
          </a:prstGeom>
          <a:noFill/>
        </p:spPr>
        <p:txBody>
          <a:bodyPr wrap="square">
            <a:spAutoFit/>
          </a:bodyPr>
          <a:lstStyle/>
          <a:p>
            <a:pPr algn="l">
              <a:lnSpc>
                <a:spcPts val="1680"/>
              </a:lnSpc>
              <a:spcAft>
                <a:spcPts val="0"/>
              </a:spcAft>
              <a:defRPr sz="1400" b="0">
                <a:solidFill>
                  <a:srgbClr val="FFFFFF"/>
                </a:solidFill>
                <a:latin typeface="Segoe UI Emoji"/>
              </a:defRPr>
            </a:pPr>
            <a:r>
              <a:t>💡</a:t>
            </a:r>
          </a:p>
        </p:txBody>
      </p:sp>
      <p:sp>
        <p:nvSpPr>
          <p:cNvPr id="23" name="TextBox 22"/>
          <p:cNvSpPr txBox="1"/>
          <p:nvPr/>
        </p:nvSpPr>
        <p:spPr>
          <a:xfrm>
            <a:off x="6812280" y="3429000"/>
            <a:ext cx="2057400" cy="290208"/>
          </a:xfrm>
          <a:prstGeom prst="rect">
            <a:avLst/>
          </a:prstGeom>
          <a:noFill/>
        </p:spPr>
        <p:txBody>
          <a:bodyPr wrap="square">
            <a:spAutoFit/>
          </a:bodyPr>
          <a:lstStyle/>
          <a:p>
            <a:pPr algn="l">
              <a:lnSpc>
                <a:spcPts val="1560"/>
              </a:lnSpc>
              <a:spcAft>
                <a:spcPts val="0"/>
              </a:spcAft>
              <a:defRPr sz="1300" b="1">
                <a:solidFill>
                  <a:srgbClr val="FFFFFF"/>
                </a:solidFill>
                <a:latin typeface="Calibri"/>
              </a:defRPr>
            </a:pPr>
            <a:r>
              <a:rPr dirty="0"/>
              <a:t>Subject Recommendations</a:t>
            </a:r>
          </a:p>
        </p:txBody>
      </p:sp>
      <p:sp>
        <p:nvSpPr>
          <p:cNvPr id="24" name="TextBox 23"/>
          <p:cNvSpPr txBox="1"/>
          <p:nvPr/>
        </p:nvSpPr>
        <p:spPr>
          <a:xfrm>
            <a:off x="8869680" y="3429000"/>
            <a:ext cx="2743200" cy="274320"/>
          </a:xfrm>
          <a:prstGeom prst="rect">
            <a:avLst/>
          </a:prstGeom>
          <a:noFill/>
        </p:spPr>
        <p:txBody>
          <a:bodyPr wrap="square">
            <a:spAutoFit/>
          </a:bodyPr>
          <a:lstStyle/>
          <a:p>
            <a:pPr algn="l">
              <a:lnSpc>
                <a:spcPts val="1320"/>
              </a:lnSpc>
              <a:spcAft>
                <a:spcPts val="0"/>
              </a:spcAft>
              <a:defRPr sz="1100" b="0">
                <a:solidFill>
                  <a:srgbClr val="90A4AE"/>
                </a:solidFill>
                <a:latin typeface="Calibri"/>
              </a:defRPr>
            </a:pPr>
            <a:r>
              <a:t>Personalized paper suggestions</a:t>
            </a:r>
          </a:p>
        </p:txBody>
      </p:sp>
      <p:sp>
        <p:nvSpPr>
          <p:cNvPr id="25" name="Rectangle 24"/>
          <p:cNvSpPr/>
          <p:nvPr/>
        </p:nvSpPr>
        <p:spPr>
          <a:xfrm>
            <a:off x="1828800" y="3840480"/>
            <a:ext cx="8503920" cy="27432"/>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0" y="4114800"/>
            <a:ext cx="12191695" cy="914400"/>
          </a:xfrm>
          <a:prstGeom prst="rect">
            <a:avLst/>
          </a:prstGeom>
          <a:noFill/>
        </p:spPr>
        <p:txBody>
          <a:bodyPr wrap="square">
            <a:spAutoFit/>
          </a:bodyPr>
          <a:lstStyle/>
          <a:p>
            <a:pPr algn="ctr">
              <a:lnSpc>
                <a:spcPts val="5759"/>
              </a:lnSpc>
              <a:spcAft>
                <a:spcPts val="0"/>
              </a:spcAft>
              <a:defRPr sz="4800" b="1">
                <a:solidFill>
                  <a:srgbClr val="FFFFFF"/>
                </a:solidFill>
                <a:latin typeface="Calibri"/>
              </a:defRPr>
            </a:pPr>
            <a:r>
              <a:t>Thank You</a:t>
            </a:r>
          </a:p>
        </p:txBody>
      </p:sp>
      <p:sp>
        <p:nvSpPr>
          <p:cNvPr id="27" name="TextBox 26"/>
          <p:cNvSpPr txBox="1"/>
          <p:nvPr/>
        </p:nvSpPr>
        <p:spPr>
          <a:xfrm>
            <a:off x="0" y="5029200"/>
            <a:ext cx="12191695" cy="457200"/>
          </a:xfrm>
          <a:prstGeom prst="rect">
            <a:avLst/>
          </a:prstGeom>
          <a:noFill/>
        </p:spPr>
        <p:txBody>
          <a:bodyPr wrap="square">
            <a:spAutoFit/>
          </a:bodyPr>
          <a:lstStyle/>
          <a:p>
            <a:pPr algn="ctr">
              <a:lnSpc>
                <a:spcPts val="2400"/>
              </a:lnSpc>
              <a:spcAft>
                <a:spcPts val="0"/>
              </a:spcAft>
              <a:defRPr sz="2000" b="0">
                <a:solidFill>
                  <a:srgbClr val="BBDEFB"/>
                </a:solidFill>
                <a:latin typeface="Calibri"/>
              </a:defRPr>
            </a:pPr>
            <a:r>
              <a:t>Questions &amp; Answers</a:t>
            </a:r>
          </a:p>
        </p:txBody>
      </p:sp>
      <p:sp>
        <p:nvSpPr>
          <p:cNvPr id="28" name="TextBox 27"/>
          <p:cNvSpPr txBox="1"/>
          <p:nvPr/>
        </p:nvSpPr>
        <p:spPr>
          <a:xfrm>
            <a:off x="0" y="5669280"/>
            <a:ext cx="12191695" cy="365760"/>
          </a:xfrm>
          <a:prstGeom prst="rect">
            <a:avLst/>
          </a:prstGeom>
          <a:noFill/>
        </p:spPr>
        <p:txBody>
          <a:bodyPr wrap="square">
            <a:spAutoFit/>
          </a:bodyPr>
          <a:lstStyle/>
          <a:p>
            <a:pPr algn="ctr">
              <a:lnSpc>
                <a:spcPts val="1560"/>
              </a:lnSpc>
              <a:spcAft>
                <a:spcPts val="0"/>
              </a:spcAft>
              <a:defRPr sz="1300" b="0">
                <a:solidFill>
                  <a:srgbClr val="5A5A7A"/>
                </a:solidFill>
                <a:latin typeface="Calibri"/>
              </a:defRPr>
            </a:pPr>
            <a:r>
              <a:t>Vikesh Kumar  |  25MCI10099  |  MCA (AI &amp; ML)  |  Chandigarh University</a:t>
            </a:r>
          </a:p>
        </p:txBody>
      </p:sp>
      <p:sp>
        <p:nvSpPr>
          <p:cNvPr id="29" name="Rectangle 28"/>
          <p:cNvSpPr/>
          <p:nvPr/>
        </p:nvSpPr>
        <p:spPr>
          <a:xfrm>
            <a:off x="0" y="6656832"/>
            <a:ext cx="12191695" cy="201168"/>
          </a:xfrm>
          <a:prstGeom prst="rect">
            <a:avLst/>
          </a:prstGeom>
          <a:solidFill>
            <a:srgbClr val="219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1155680" y="6446520"/>
            <a:ext cx="914400" cy="320040"/>
          </a:xfrm>
          <a:prstGeom prst="rect">
            <a:avLst/>
          </a:prstGeom>
          <a:noFill/>
        </p:spPr>
        <p:txBody>
          <a:bodyPr wrap="square">
            <a:spAutoFit/>
          </a:bodyPr>
          <a:lstStyle/>
          <a:p>
            <a:pPr algn="r">
              <a:lnSpc>
                <a:spcPts val="1200"/>
              </a:lnSpc>
              <a:spcAft>
                <a:spcPts val="0"/>
              </a:spcAft>
              <a:defRPr sz="1000" b="0">
                <a:solidFill>
                  <a:srgbClr val="5A5A7A"/>
                </a:solidFill>
                <a:latin typeface="Calibri"/>
              </a:defRPr>
            </a:pPr>
            <a: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1611</Words>
  <Application>Microsoft Office PowerPoint</Application>
  <PresentationFormat>Widescreen</PresentationFormat>
  <Paragraphs>208</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Vikesh Kumar</cp:lastModifiedBy>
  <cp:revision>1</cp:revision>
  <dcterms:created xsi:type="dcterms:W3CDTF">2013-01-27T09:14:16Z</dcterms:created>
  <dcterms:modified xsi:type="dcterms:W3CDTF">2026-07-12T11:20:44Z</dcterms:modified>
  <cp:category/>
</cp:coreProperties>
</file>